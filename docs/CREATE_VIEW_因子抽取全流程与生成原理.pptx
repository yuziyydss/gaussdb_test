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1672085df44a7d" /><Relationship Type="http://schemas.openxmlformats.org/officeDocument/2006/relationships/extended-properties" Target="/docProps/app.xml" Id="R3a98bfbfa9e645c6" /><Relationship Type="http://schemas.openxmlformats.org/officeDocument/2006/relationships/officeDocument" Target="/ppt/presentation.xml" Id="R7f64b8e5f8f547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e7dd321341495c"/>
  </p:sldMasterIdLst>
  <p:notesMasterIdLst>
    <p:notesMasterId xmlns:r="http://schemas.openxmlformats.org/officeDocument/2006/relationships" r:id="R9b79f893e00b4477"/>
  </p:notesMasterIdLst>
  <p:sldIdLst>
    <p:sldId xmlns:r="http://schemas.openxmlformats.org/officeDocument/2006/relationships" id="256" r:id="Re10a7908120d4745"/>
    <p:sldId xmlns:r="http://schemas.openxmlformats.org/officeDocument/2006/relationships" id="257" r:id="Rae7bb03309404e6b"/>
    <p:sldId xmlns:r="http://schemas.openxmlformats.org/officeDocument/2006/relationships" id="258" r:id="R371c0fc7850e4dc1"/>
    <p:sldId xmlns:r="http://schemas.openxmlformats.org/officeDocument/2006/relationships" id="259" r:id="R6aac79098b0148ff"/>
    <p:sldId xmlns:r="http://schemas.openxmlformats.org/officeDocument/2006/relationships" id="260" r:id="R0e9ae11dce574a18"/>
    <p:sldId xmlns:r="http://schemas.openxmlformats.org/officeDocument/2006/relationships" id="261" r:id="R5b216edabcbf4fb4"/>
    <p:sldId xmlns:r="http://schemas.openxmlformats.org/officeDocument/2006/relationships" id="262" r:id="Radb7f82f8ef54cd8"/>
    <p:sldId xmlns:r="http://schemas.openxmlformats.org/officeDocument/2006/relationships" id="263" r:id="R805f5f837e6145a9"/>
    <p:sldId xmlns:r="http://schemas.openxmlformats.org/officeDocument/2006/relationships" id="264" r:id="R495a244788214799"/>
    <p:sldId xmlns:r="http://schemas.openxmlformats.org/officeDocument/2006/relationships" id="265" r:id="Rf1f9ddb018af4bd2"/>
    <p:sldId xmlns:r="http://schemas.openxmlformats.org/officeDocument/2006/relationships" id="266" r:id="R9945c7f66a2a4b8e"/>
    <p:sldId xmlns:r="http://schemas.openxmlformats.org/officeDocument/2006/relationships" id="267" r:id="Rbebd36f3932a4ad1"/>
    <p:sldId xmlns:r="http://schemas.openxmlformats.org/officeDocument/2006/relationships" id="268" r:id="R58c4b81fa76e4dd6"/>
    <p:sldId xmlns:r="http://schemas.openxmlformats.org/officeDocument/2006/relationships" id="269" r:id="Rbf6cddfa60fa42f8"/>
    <p:sldId xmlns:r="http://schemas.openxmlformats.org/officeDocument/2006/relationships" id="270" r:id="Rdc4c100098db4a67"/>
    <p:sldId xmlns:r="http://schemas.openxmlformats.org/officeDocument/2006/relationships" id="271" r:id="R6ea0500aa5c84100"/>
    <p:sldId xmlns:r="http://schemas.openxmlformats.org/officeDocument/2006/relationships" id="272" r:id="R01252a5acad3423f"/>
    <p:sldId xmlns:r="http://schemas.openxmlformats.org/officeDocument/2006/relationships" id="273" r:id="Ree789a918de948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76849cad4c4027" /><Relationship Type="http://schemas.openxmlformats.org/officeDocument/2006/relationships/slideMaster" Target="/ppt/slideMasters/slideMaster1.xml" Id="R0ee7dd321341495c" /><Relationship Type="http://schemas.openxmlformats.org/officeDocument/2006/relationships/notesMaster" Target="/ppt/notesMasters/notesMaster1.xml" Id="R9b79f893e00b4477" /><Relationship Type="http://schemas.openxmlformats.org/officeDocument/2006/relationships/presProps" Target="/ppt/presProps.xml" Id="R1dd978a280d5446c" /><Relationship Type="http://schemas.openxmlformats.org/officeDocument/2006/relationships/tableStyles" Target="/ppt/tableStyles.xml" Id="R107fb6f46bb14a11" /><Relationship Type="http://schemas.openxmlformats.org/officeDocument/2006/relationships/slide" Target="/ppt/slides/slide1.xml" Id="Re10a7908120d4745" /><Relationship Type="http://schemas.openxmlformats.org/officeDocument/2006/relationships/slide" Target="/ppt/slides/slide2.xml" Id="Rae7bb03309404e6b" /><Relationship Type="http://schemas.openxmlformats.org/officeDocument/2006/relationships/slide" Target="/ppt/slides/slide3.xml" Id="R371c0fc7850e4dc1" /><Relationship Type="http://schemas.openxmlformats.org/officeDocument/2006/relationships/slide" Target="/ppt/slides/slide4.xml" Id="R6aac79098b0148ff" /><Relationship Type="http://schemas.openxmlformats.org/officeDocument/2006/relationships/slide" Target="/ppt/slides/slide5.xml" Id="R0e9ae11dce574a18" /><Relationship Type="http://schemas.openxmlformats.org/officeDocument/2006/relationships/slide" Target="/ppt/slides/slide6.xml" Id="R5b216edabcbf4fb4" /><Relationship Type="http://schemas.openxmlformats.org/officeDocument/2006/relationships/slide" Target="/ppt/slides/slide7.xml" Id="Radb7f82f8ef54cd8" /><Relationship Type="http://schemas.openxmlformats.org/officeDocument/2006/relationships/slide" Target="/ppt/slides/slide8.xml" Id="R805f5f837e6145a9" /><Relationship Type="http://schemas.openxmlformats.org/officeDocument/2006/relationships/slide" Target="/ppt/slides/slide9.xml" Id="R495a244788214799" /><Relationship Type="http://schemas.openxmlformats.org/officeDocument/2006/relationships/slide" Target="/ppt/slides/slide10.xml" Id="Rf1f9ddb018af4bd2" /><Relationship Type="http://schemas.openxmlformats.org/officeDocument/2006/relationships/slide" Target="/ppt/slides/slide11.xml" Id="R9945c7f66a2a4b8e" /><Relationship Type="http://schemas.openxmlformats.org/officeDocument/2006/relationships/slide" Target="/ppt/slides/slide12.xml" Id="Rbebd36f3932a4ad1" /><Relationship Type="http://schemas.openxmlformats.org/officeDocument/2006/relationships/slide" Target="/ppt/slides/slide13.xml" Id="R58c4b81fa76e4dd6" /><Relationship Type="http://schemas.openxmlformats.org/officeDocument/2006/relationships/slide" Target="/ppt/slides/slide14.xml" Id="Rbf6cddfa60fa42f8" /><Relationship Type="http://schemas.openxmlformats.org/officeDocument/2006/relationships/slide" Target="/ppt/slides/slide15.xml" Id="Rdc4c100098db4a67" /><Relationship Type="http://schemas.openxmlformats.org/officeDocument/2006/relationships/slide" Target="/ppt/slides/slide16.xml" Id="R6ea0500aa5c84100" /><Relationship Type="http://schemas.openxmlformats.org/officeDocument/2006/relationships/slide" Target="/ppt/slides/slide17.xml" Id="R01252a5acad3423f" /><Relationship Type="http://schemas.openxmlformats.org/officeDocument/2006/relationships/slide" Target="/ppt/slides/slide18.xml" Id="Ree789a918de948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a9179134e949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87a3c07f2945bc" /><Relationship Type="http://schemas.openxmlformats.org/officeDocument/2006/relationships/notesMaster" Target="/ppt/notesMasters/notesMaster1.xml" Id="R8363b2ed50a443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019096f7204b8e" /><Relationship Type="http://schemas.openxmlformats.org/officeDocument/2006/relationships/notesMaster" Target="/ppt/notesMasters/notesMaster1.xml" Id="R6124d72c05f149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2cd8d576384ec2" /><Relationship Type="http://schemas.openxmlformats.org/officeDocument/2006/relationships/notesMaster" Target="/ppt/notesMasters/notesMaster1.xml" Id="R266ae43b7b564f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c47b65a4d04d39" /><Relationship Type="http://schemas.openxmlformats.org/officeDocument/2006/relationships/notesMaster" Target="/ppt/notesMasters/notesMaster1.xml" Id="Rd62578466ff34a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9bf0e898f34358" /><Relationship Type="http://schemas.openxmlformats.org/officeDocument/2006/relationships/notesMaster" Target="/ppt/notesMasters/notesMaster1.xml" Id="Re973dc78355644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9c5725722e49d5" /><Relationship Type="http://schemas.openxmlformats.org/officeDocument/2006/relationships/notesMaster" Target="/ppt/notesMasters/notesMaster1.xml" Id="Ra513baf26c2c42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fe9372dd94470c" /><Relationship Type="http://schemas.openxmlformats.org/officeDocument/2006/relationships/notesMaster" Target="/ppt/notesMasters/notesMaster1.xml" Id="Ra561f7ae7e7a43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aaf79b76da4c04" /><Relationship Type="http://schemas.openxmlformats.org/officeDocument/2006/relationships/notesMaster" Target="/ppt/notesMasters/notesMaster1.xml" Id="R68d6a7b07a294b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08d1dd73694ee4" /><Relationship Type="http://schemas.openxmlformats.org/officeDocument/2006/relationships/notesMaster" Target="/ppt/notesMasters/notesMaster1.xml" Id="Rc633937c077c43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ffad39911e411b" /><Relationship Type="http://schemas.openxmlformats.org/officeDocument/2006/relationships/notesMaster" Target="/ppt/notesMasters/notesMaster1.xml" Id="R84f5e1b558df48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50159f382a46c6" /><Relationship Type="http://schemas.openxmlformats.org/officeDocument/2006/relationships/notesMaster" Target="/ppt/notesMasters/notesMaster1.xml" Id="Rd02a90fb1ca740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90a6d2eacc4eff" /><Relationship Type="http://schemas.openxmlformats.org/officeDocument/2006/relationships/notesMaster" Target="/ppt/notesMasters/notesMaster1.xml" Id="Rcf908893879f4f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6405488f4f4603" /><Relationship Type="http://schemas.openxmlformats.org/officeDocument/2006/relationships/notesMaster" Target="/ppt/notesMasters/notesMaster1.xml" Id="Rf385f54cf67648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c601b097d941c5" /><Relationship Type="http://schemas.openxmlformats.org/officeDocument/2006/relationships/notesMaster" Target="/ppt/notesMasters/notesMaster1.xml" Id="Rffbbddb0e1a54a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2f3063e2c84eb9" /><Relationship Type="http://schemas.openxmlformats.org/officeDocument/2006/relationships/notesMaster" Target="/ppt/notesMasters/notesMaster1.xml" Id="Rc88a34e2426d46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042d42bbf840a3" /><Relationship Type="http://schemas.openxmlformats.org/officeDocument/2006/relationships/notesMaster" Target="/ppt/notesMasters/notesMaster1.xml" Id="Rca128cb6807f422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ea1ba55c004490" /><Relationship Type="http://schemas.openxmlformats.org/officeDocument/2006/relationships/notesMaster" Target="/ppt/notesMasters/notesMaster1.xml" Id="R081e1bd3e03043e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02688da0dcd4cde" /><Relationship Type="http://schemas.openxmlformats.org/officeDocument/2006/relationships/notesMaster" Target="/ppt/notesMasters/notesMaster1.xml" Id="R1e8e4e42f83542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开场强调：本体系的目标不是堆 SQL 数量，而是建立从产品原文到可执行验证的证据链。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/Users/wangyangbo/PycharmProjects/gaussdb_test/docs/FACTOR_PACKAGE_SCHEMA_V1.md</a:t>
            </a:r>
          </a:p>
          <a:p xmlns:a="http://schemas.openxmlformats.org/drawingml/2006/main">
            <a:r>
              <a:t>- /Users/wangyangbo/PycharmProjects/gaussdb_test/docs/DOC2SPEC_EXTRACTION_RULES_V1.md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三层分别解决遗漏、组合正确性和真实行为；任何一层缺失都不能称为完整闭环。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按顺序理解：先证明读过，再建立模型，再计算覆盖，最后执行行为验证。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/Users/wangyangbo/PycharmProjects/gaussdb_test/docs/DOC2SPEC_EXTRACTION_RULES_V1.md</a:t>
            </a:r>
          </a:p>
          <a:p xmlns:a="http://schemas.openxmlformats.org/drawingml/2006/main">
            <a:r>
              <a:t>- /Users/wangyangbo/PycharmProjects/gaussdb_test/core/factor_package_generator.py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抽取边界防止因子互相复制；哈希防止文档版本与抽取结果错配。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/Users/wangyangbo/PycharmProjects/gaussdb_test/specs/ddl/create_view/create_view.source.yaml</a:t>
            </a:r>
          </a:p>
          <a:p xmlns:a="http://schemas.openxmlformats.org/drawingml/2006/main">
            <a:r>
              <a:t>- /Users/wangyangbo/PycharmProjects/gaussdb_test/specs/ddl/create_view/create_view.factor.yaml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ledger 只记录原文证据和处置，不保存 SQL 模板，也不直接生成用例。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/Users/wangyangbo/PycharmProjects/gaussdb_test/specs/ddl/create_view/create_view.source.yaml</a:t>
            </a:r>
          </a:p>
          <a:p xmlns:a="http://schemas.openxmlformats.org/drawingml/2006/main">
            <a:r>
              <a:t>- /Users/wangyangbo/PycharmProjects/gaussdb_test/generated/factor_packages/create_view/coverage_audit.json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原子性审计防止用一个长 unit 形式上覆盖几十条独立约束；当前 CREATE VIEW 尚未完成该项。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/Users/wangyangbo/PycharmProjects/gaussdb_test/generated/factor_packages/create_view/coverage_audit.json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同一段原文可以拆成多个 fact，因为不同事实会被不同下游模型消费。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/Users/wangyangbo/PycharmProjects/gaussdb_test/specs/ddl/create_view/create_view.source.yaml</a:t>
            </a:r>
          </a:p>
          <a:p xmlns:a="http://schemas.openxmlformats.org/drawingml/2006/main">
            <a:r>
              <a:t>- /Users/wangyangbo/PycharmProjects/gaussdb_test/specs/ddl/create_view/create_view.factor.yaml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事实正文和规则表达式只能维护一份；其他文件通过稳定 ID 引用，避免规则漂移。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/Users/wangyangbo/PycharmProjects/gaussdb_test/docs/FACTOR_PACKAGE_SCHEMA_V1.md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Dimension 是能独立变化的测试因素；class 表示等价类；value.id 是稳定身份，render 不是身份。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/Users/wangyangbo/PycharmProjects/gaussdb_test/specs/ddl/create_view/create_view.factor.yaml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三者不能合并：syntax 不知道值；matrix 不管理对象生命周期；fixture 不决定 SQL 语法。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/Users/wangyangbo/PycharmProjects/gaussdb_test/specs/ddl/create_view/create_view.syntax.yaml</a:t>
            </a:r>
          </a:p>
          <a:p xmlns:a="http://schemas.openxmlformats.org/drawingml/2006/main">
            <a:r>
              <a:t>- /Users/wangyangbo/PycharmProjects/gaussdb_test/specs/ddl/create_view/matrices/query_capabilities.matrix.yaml</a:t>
            </a:r>
          </a:p>
          <a:p xmlns:a="http://schemas.openxmlformats.org/drawingml/2006/main">
            <a:r>
              <a:t>- /Users/wangyangbo/PycharmProjects/gaussdb_test/specs/ddl/create_view/fixtures/source_two_ints.fixture.yaml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结构契约参与可行空间过滤，但不改变产品事实状态；硬规则必须有 confirmed fact 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/Users/wangyangbo/PycharmProjects/gaussdb_test/specs/ddl/create_view/create_view.factor.yaml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Positive 只能选择 valid 值；negative 必须声明目标违反规则和错误 Oracle。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/Users/wangyangbo/PycharmProjects/gaussdb_test/specs/ddl/create_view/manifests/basic_positive.manifest.yaml</a:t>
            </a:r>
          </a:p>
          <a:p xmlns:a="http://schemas.openxmlformats.org/drawingml/2006/main">
            <a:r>
              <a:t>- /Users/wangyangbo/PycharmProjects/gaussdb_test/generated/factor_packages/create_view/REVIEW.md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正确顺序是先用规则计算可行空间，再对可行参数对做 Pairwise；不能先生成后删除非法组合。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/Users/wangyangbo/PycharmProjects/gaussdb_test/specs/ddl/create_view/manifests/basic_positive.manifest.yaml</a:t>
            </a:r>
          </a:p>
          <a:p xmlns:a="http://schemas.openxmlformats.org/drawingml/2006/main">
            <a:r>
              <a:t>- /Users/wangyangbo/PycharmProjects/gaussdb_test/generated/factor_packages/create_view/REVIEW.md</a:t>
            </a:r>
          </a:p>
          <a:p xmlns:a="http://schemas.openxmlformats.org/drawingml/2006/main">
            <a:r>
              <a:t>- /Users/wangyangbo/PycharmProjects/gaussdb_test/core/factor_package_generator.py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任何约束解析失败、Pair 缺失、重复 case ID、重复 SQL 或 fixture 契约不满足都应阻止输出。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/Users/wangyangbo/PycharmProjects/gaussdb_test/core/factor_package_generator.py</a:t>
            </a:r>
          </a:p>
          <a:p xmlns:a="http://schemas.openxmlformats.org/drawingml/2006/main">
            <a:r>
              <a:t>- /Users/wangyangbo/PycharmProjects/gaussdb_test/scripts/generate_factor_package_sql.py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 ID 由 manifest ID 与排序后的参数组合计算哈希；对象名也使用该稳定后缀，保证确定性和全局唯一。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/Users/wangyangbo/PycharmProjects/gaussdb_test/generated/factor_packages/create_view/manifest_create_view_basic_positive.sql</a:t>
            </a:r>
          </a:p>
          <a:p xmlns:a="http://schemas.openxmlformats.org/drawingml/2006/main">
            <a:r>
              <a:t>- /Users/wangyangbo/PycharmProjects/gaussdb_test/core/factor_package_generator.py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Negative manifest 不是把 expected 改成 error，而是定义一个受控反例及其目标 Oracle。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/Users/wangyangbo/PycharmProjects/gaussdb_test/specs/ddl/create_view/manifests/non_updatable_trailing_negative.manifest.yaml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在普通 Pairwise 中出现 FORCE 只证明 token 可组合；只有该多步骤场景才能证明 FORCE 的真实生命周期语义。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/Users/wangyangbo/PycharmProjects/gaussdb_test/specs/ddl/create_view/scenarios/force_compile.scenario.yaml</a:t>
            </a:r>
          </a:p>
          <a:p xmlns:a="http://schemas.openxmlformats.org/drawingml/2006/main">
            <a:r>
              <a:t>- /Users/wangyangbo/PycharmProjects/gaussdb_test/specs/ddl/create_view/scenarios/check_option.scenario.yaml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结论边界：可以称为静态抽取与生成主体闭环，不能称为目标数据库行为完全闭环。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/Users/wangyangbo/PycharmProjects/gaussdb_test/generated/factor_packages/create_view/coverage_audit.json</a:t>
            </a:r>
          </a:p>
          <a:p xmlns:a="http://schemas.openxmlformats.org/drawingml/2006/main">
            <a:r>
              <a:t>- /Users/wangyangbo/PycharmProjects/gaussdb_test/generated/factor_packages/create_view/REVIEW.md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088ddfc26548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56b03dc5dc42c2" /><Relationship Type="http://schemas.openxmlformats.org/officeDocument/2006/relationships/slideLayout" Target="/ppt/slideLayouts/slideLayout1.xml" Id="R80955f63710a4f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955f63710a4f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bf1f62e134536" /><Relationship Type="http://schemas.openxmlformats.org/officeDocument/2006/relationships/notesSlide" Target="/ppt/notesSlides/notesSlide1.xml" Id="R87252c55dedf42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b77befeee40f2" /><Relationship Type="http://schemas.openxmlformats.org/officeDocument/2006/relationships/notesSlide" Target="/ppt/notesSlides/notesSlide2.xml" Id="R68c903c4421e4e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12368aa244c9e" /><Relationship Type="http://schemas.openxmlformats.org/officeDocument/2006/relationships/notesSlide" Target="/ppt/notesSlides/notesSlide3.xml" Id="R008e6d0e39424c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bb17fbfdf4445" /><Relationship Type="http://schemas.openxmlformats.org/officeDocument/2006/relationships/notesSlide" Target="/ppt/notesSlides/notesSlide4.xml" Id="R218c0f187f1147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cf6fe4554402c" /><Relationship Type="http://schemas.openxmlformats.org/officeDocument/2006/relationships/notesSlide" Target="/ppt/notesSlides/notesSlide5.xml" Id="R69ffbb7898c948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cbc0258bd4f74" /><Relationship Type="http://schemas.openxmlformats.org/officeDocument/2006/relationships/notesSlide" Target="/ppt/notesSlides/notesSlide6.xml" Id="Rea4be9792b3340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dbdf749d84056" /><Relationship Type="http://schemas.openxmlformats.org/officeDocument/2006/relationships/notesSlide" Target="/ppt/notesSlides/notesSlide7.xml" Id="Rde4b63af6a754b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bc071cdf947cf" /><Relationship Type="http://schemas.openxmlformats.org/officeDocument/2006/relationships/notesSlide" Target="/ppt/notesSlides/notesSlide8.xml" Id="R8e879d5f7ac944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ca1f22d2b4f3a" /><Relationship Type="http://schemas.openxmlformats.org/officeDocument/2006/relationships/notesSlide" Target="/ppt/notesSlides/notesSlide9.xml" Id="Rb024e6a6c0054c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7d783e6b649da" /><Relationship Type="http://schemas.openxmlformats.org/officeDocument/2006/relationships/notesSlide" Target="/ppt/notesSlides/notesSlide10.xml" Id="R19cea804ff884d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c4d3dce9a4af6" /><Relationship Type="http://schemas.openxmlformats.org/officeDocument/2006/relationships/notesSlide" Target="/ppt/notesSlides/notesSlide11.xml" Id="R794e0801105c47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08c9a572b4d08" /><Relationship Type="http://schemas.openxmlformats.org/officeDocument/2006/relationships/notesSlide" Target="/ppt/notesSlides/notesSlide12.xml" Id="Rcdb7aa0dc71247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8316013b24bb8" /><Relationship Type="http://schemas.openxmlformats.org/officeDocument/2006/relationships/notesSlide" Target="/ppt/notesSlides/notesSlide13.xml" Id="R8212a8ba8d6840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9bd0b7dc5447e" /><Relationship Type="http://schemas.openxmlformats.org/officeDocument/2006/relationships/notesSlide" Target="/ppt/notesSlides/notesSlide14.xml" Id="R6e7971cc1ac64c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c7694deae423a" /><Relationship Type="http://schemas.openxmlformats.org/officeDocument/2006/relationships/notesSlide" Target="/ppt/notesSlides/notesSlide15.xml" Id="R154d01bb0d794f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5adb0af984dbd" /><Relationship Type="http://schemas.openxmlformats.org/officeDocument/2006/relationships/notesSlide" Target="/ppt/notesSlides/notesSlide16.xml" Id="R9419b95d88e945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2ac3e95ec4d69" /><Relationship Type="http://schemas.openxmlformats.org/officeDocument/2006/relationships/notesSlide" Target="/ppt/notesSlides/notesSlide17.xml" Id="Rf7b2453c192c46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d6c4f9b924801" /><Relationship Type="http://schemas.openxmlformats.org/officeDocument/2006/relationships/notesSlide" Target="/ppt/notesSlides/notesSlide18.xml" Id="R7938d7f458f849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B69C74E7-1C70-4E36-9B85-9833139E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95250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D832F07-7BBD-43DF-BEF3-C9ED1F58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GaussDB 测试因子体系 · CREATE VIEW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42094DB-9F4F-4B9D-A443-CC2656BE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914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从产品文档</a:t>
            </a:r>
          </a:p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到可验证 SQL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CDC6C84-14BE-4BF3-8225-51013228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抽取 · 建模 · 组合生成 · 覆盖闭环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0B6E39CB-F6FF-423C-8C40-84DBFD4D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Factor Package Schema V1  |  2026-08-31</a:t>
            </a:r>
          </a:p>
        </p:txBody>
      </p:sp>
    </p:spTree>
    <p:extLst>
      <p:ext uri="{BB962C8B-B14F-4D97-AF65-F5344CB8AC3E}">
        <p14:creationId xmlns:p14="http://schemas.microsoft.com/office/powerpoint/2010/main" val="2023566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2">
            <a:extLst xmlns:a="http://schemas.openxmlformats.org/drawingml/2006/main">
              <a:ext uri="{FF2B5EF4-FFF2-40B4-BE49-F238E27FC236}">
                <a16:creationId xmlns:a16="http://schemas.microsoft.com/office/drawing/2014/main" id="{4C3A1127-8E68-492A-96F0-9F84A215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01 · 核心认识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D65BE59-EA80-450F-B0D6-82045559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目标不是生成更多 SQL，而是建立一条可信证据链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1C225B85-9EE6-499B-8C54-7CCC394A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058C719E-68DE-4AD7-BE3E-B096E6E3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thesis">
            <a:extLst xmlns:a="http://schemas.openxmlformats.org/drawingml/2006/main">
              <a:ext uri="{FF2B5EF4-FFF2-40B4-BE49-F238E27FC236}">
                <a16:creationId xmlns:a16="http://schemas.microsoft.com/office/drawing/2014/main" id="{30A47EE5-7825-4947-B46E-81EE0A0C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每一条测试结论都必须能回答：原文在哪里、如何建模、由谁消费、怎样验证。</a:t>
            </a:r>
          </a:p>
        </p:txBody>
      </p:sp>
      <p:sp>
        <p:nvSpPr>
          <p:cNvPr id="6" name="arrow-382-387">
            <a:extLst xmlns:a="http://schemas.openxmlformats.org/drawingml/2006/main">
              <a:ext uri="{FF2B5EF4-FFF2-40B4-BE49-F238E27FC236}">
                <a16:creationId xmlns:a16="http://schemas.microsoft.com/office/drawing/2014/main" id="{5C496040-CFFD-4CA2-9AD1-5CD00B94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86175"/>
            <a:ext cx="781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816-387">
            <a:extLst xmlns:a="http://schemas.openxmlformats.org/drawingml/2006/main">
              <a:ext uri="{FF2B5EF4-FFF2-40B4-BE49-F238E27FC236}">
                <a16:creationId xmlns:a16="http://schemas.microsoft.com/office/drawing/2014/main" id="{BA4A1CBB-38B0-4244-8B1E-9D03EC03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86175"/>
            <a:ext cx="781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">
            <a:extLst xmlns:a="http://schemas.openxmlformats.org/drawingml/2006/main">
              <a:ext uri="{FF2B5EF4-FFF2-40B4-BE49-F238E27FC236}">
                <a16:creationId xmlns:a16="http://schemas.microsoft.com/office/drawing/2014/main" id="{C3E462F4-364F-4DFD-9156-E87F8154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model">
            <a:extLst xmlns:a="http://schemas.openxmlformats.org/drawingml/2006/main">
              <a:ext uri="{FF2B5EF4-FFF2-40B4-BE49-F238E27FC236}">
                <a16:creationId xmlns:a16="http://schemas.microsoft.com/office/drawing/2014/main" id="{EB36C21C-5405-4C53-83C4-85C9474F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validation">
            <a:extLst xmlns:a="http://schemas.openxmlformats.org/drawingml/2006/main">
              <a:ext uri="{FF2B5EF4-FFF2-40B4-BE49-F238E27FC236}">
                <a16:creationId xmlns:a16="http://schemas.microsoft.com/office/drawing/2014/main" id="{6C87F96C-D4C5-45D8-B3CC-B69F7E00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48000"/>
            <a:ext cx="2914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DCC78DFF-838B-4966-A63C-95F2FC38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原文证据</a:t>
            </a:r>
          </a:p>
        </p:txBody>
      </p:sp>
      <p:sp>
        <p:nvSpPr>
          <p:cNvPr id="12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BAFEC058-ECD2-4CE4-9165-4601AA4D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source unit</a:t>
            </a:r>
          </a:p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行号与锚点</a:t>
            </a:r>
          </a:p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原子性与处置状态</a:t>
            </a:r>
          </a:p>
        </p:txBody>
      </p:sp>
      <p:sp>
        <p:nvSpPr>
          <p:cNvPr id="13" name="model-title">
            <a:extLst xmlns:a="http://schemas.openxmlformats.org/drawingml/2006/main">
              <a:ext uri="{FF2B5EF4-FFF2-40B4-BE49-F238E27FC236}">
                <a16:creationId xmlns:a16="http://schemas.microsoft.com/office/drawing/2014/main" id="{59C49511-DD6E-4234-A2CB-DAAB258E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52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可计算模型</a:t>
            </a:r>
          </a:p>
        </p:txBody>
      </p:sp>
      <p:sp>
        <p:nvSpPr>
          <p:cNvPr id="14" name="model-body">
            <a:extLst xmlns:a="http://schemas.openxmlformats.org/drawingml/2006/main">
              <a:ext uri="{FF2B5EF4-FFF2-40B4-BE49-F238E27FC236}">
                <a16:creationId xmlns:a16="http://schemas.microsoft.com/office/drawing/2014/main" id="{657F73FF-8F43-4E52-848C-8CBA2BEC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052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fact · dimension · rule</a:t>
            </a:r>
          </a:p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syntax · matrix · fixture</a:t>
            </a:r>
          </a:p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manifest</a:t>
            </a:r>
          </a:p>
        </p:txBody>
      </p:sp>
      <p:sp>
        <p:nvSpPr>
          <p:cNvPr id="15" name="validation-title">
            <a:extLst xmlns:a="http://schemas.openxmlformats.org/drawingml/2006/main">
              <a:ext uri="{FF2B5EF4-FFF2-40B4-BE49-F238E27FC236}">
                <a16:creationId xmlns:a16="http://schemas.microsoft.com/office/drawing/2014/main" id="{2ECC7F39-0CEF-480D-961A-B47CAE3A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可执行验证</a:t>
            </a:r>
          </a:p>
        </p:txBody>
      </p:sp>
      <p:sp>
        <p:nvSpPr>
          <p:cNvPr id="16" name="validation-body">
            <a:extLst xmlns:a="http://schemas.openxmlformats.org/drawingml/2006/main">
              <a:ext uri="{FF2B5EF4-FFF2-40B4-BE49-F238E27FC236}">
                <a16:creationId xmlns:a16="http://schemas.microsoft.com/office/drawing/2014/main" id="{8F4D4DDC-24D4-467D-A7C4-AC7E9EE4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05250"/>
            <a:ext cx="2419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Pairwise SQL</a:t>
            </a:r>
          </a:p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目标错误 Oracle</a:t>
            </a:r>
          </a:p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scenario 与数据库行为</a:t>
            </a:r>
          </a:p>
        </p:txBody>
      </p:sp>
    </p:spTree>
    <p:extLst>
      <p:ext uri="{BB962C8B-B14F-4D97-AF65-F5344CB8AC3E}">
        <p14:creationId xmlns:p14="http://schemas.microsoft.com/office/powerpoint/2010/main" val="16575206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-3">
            <a:extLst xmlns:a="http://schemas.openxmlformats.org/drawingml/2006/main">
              <a:ext uri="{FF2B5EF4-FFF2-40B4-BE49-F238E27FC236}">
                <a16:creationId xmlns:a16="http://schemas.microsoft.com/office/drawing/2014/main" id="{8DE039F0-A746-47B2-9151-9CB3917F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02 · 全流程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4A33EBE-B936-4574-B555-A961A3A3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CREATE VIEW 抽取是一条编译流水线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8B4E6044-D0C7-4E31-9DA5-118BAF25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B7245D2B-E042-4BFD-9C0B-40B43AFA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arrow-212-238">
            <a:extLst xmlns:a="http://schemas.openxmlformats.org/drawingml/2006/main">
              <a:ext uri="{FF2B5EF4-FFF2-40B4-BE49-F238E27FC236}">
                <a16:creationId xmlns:a16="http://schemas.microsoft.com/office/drawing/2014/main" id="{03CD6346-C733-4BFF-8C73-017DC171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6695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430-238">
            <a:extLst xmlns:a="http://schemas.openxmlformats.org/drawingml/2006/main">
              <a:ext uri="{FF2B5EF4-FFF2-40B4-BE49-F238E27FC236}">
                <a16:creationId xmlns:a16="http://schemas.microsoft.com/office/drawing/2014/main" id="{E1839231-C3D3-4668-8999-891555B3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648-238">
            <a:extLst xmlns:a="http://schemas.openxmlformats.org/drawingml/2006/main">
              <a:ext uri="{FF2B5EF4-FFF2-40B4-BE49-F238E27FC236}">
                <a16:creationId xmlns:a16="http://schemas.microsoft.com/office/drawing/2014/main" id="{8014AD26-8CAC-46B5-81E7-F1749D60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-866-238">
            <a:extLst xmlns:a="http://schemas.openxmlformats.org/drawingml/2006/main">
              <a:ext uri="{FF2B5EF4-FFF2-40B4-BE49-F238E27FC236}">
                <a16:creationId xmlns:a16="http://schemas.microsoft.com/office/drawing/2014/main" id="{19D6A7E0-BB60-4AEB-8A8A-6837590C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row-212-472">
            <a:extLst xmlns:a="http://schemas.openxmlformats.org/drawingml/2006/main">
              <a:ext uri="{FF2B5EF4-FFF2-40B4-BE49-F238E27FC236}">
                <a16:creationId xmlns:a16="http://schemas.microsoft.com/office/drawing/2014/main" id="{7DC9F0B0-A713-4B05-8524-1380468A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9580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row-430-472">
            <a:extLst xmlns:a="http://schemas.openxmlformats.org/drawingml/2006/main">
              <a:ext uri="{FF2B5EF4-FFF2-40B4-BE49-F238E27FC236}">
                <a16:creationId xmlns:a16="http://schemas.microsoft.com/office/drawing/2014/main" id="{E8C2F991-F1B3-4C83-AAA0-CC4B2378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row-648-472">
            <a:extLst xmlns:a="http://schemas.openxmlformats.org/drawingml/2006/main">
              <a:ext uri="{FF2B5EF4-FFF2-40B4-BE49-F238E27FC236}">
                <a16:creationId xmlns:a16="http://schemas.microsoft.com/office/drawing/2014/main" id="{A4B2B345-0AC9-437F-9026-984FE80D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9580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ipeline-top-0">
            <a:extLst xmlns:a="http://schemas.openxmlformats.org/drawingml/2006/main">
              <a:ext uri="{FF2B5EF4-FFF2-40B4-BE49-F238E27FC236}">
                <a16:creationId xmlns:a16="http://schemas.microsoft.com/office/drawing/2014/main" id="{28E034F6-8995-40C5-84EA-2ACD9D7E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165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pipeline-top-h-0">
            <a:extLst xmlns:a="http://schemas.openxmlformats.org/drawingml/2006/main">
              <a:ext uri="{FF2B5EF4-FFF2-40B4-BE49-F238E27FC236}">
                <a16:creationId xmlns:a16="http://schemas.microsoft.com/office/drawing/2014/main" id="{A1E4F64D-8F72-4473-9DC3-8A862FDF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产品文档</a:t>
            </a:r>
          </a:p>
        </p:txBody>
      </p:sp>
      <p:sp>
        <p:nvSpPr>
          <p:cNvPr id="14" name="pipeline-top-b-0">
            <a:extLst xmlns:a="http://schemas.openxmlformats.org/drawingml/2006/main">
              <a:ext uri="{FF2B5EF4-FFF2-40B4-BE49-F238E27FC236}">
                <a16:creationId xmlns:a16="http://schemas.microsoft.com/office/drawing/2014/main" id="{076450BC-CCDF-4803-A0ED-630D51F6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正文、语法、说明、示例</a:t>
            </a:r>
          </a:p>
        </p:txBody>
      </p:sp>
      <p:sp>
        <p:nvSpPr>
          <p:cNvPr id="15" name="pipeline-top-1">
            <a:extLst xmlns:a="http://schemas.openxmlformats.org/drawingml/2006/main">
              <a:ext uri="{FF2B5EF4-FFF2-40B4-BE49-F238E27FC236}">
                <a16:creationId xmlns:a16="http://schemas.microsoft.com/office/drawing/2014/main" id="{B3C40311-02B0-476F-A730-9B5A2B1A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28800"/>
            <a:ext cx="165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pipeline-top-h-1">
            <a:extLst xmlns:a="http://schemas.openxmlformats.org/drawingml/2006/main">
              <a:ext uri="{FF2B5EF4-FFF2-40B4-BE49-F238E27FC236}">
                <a16:creationId xmlns:a16="http://schemas.microsoft.com/office/drawing/2014/main" id="{D106BD85-37BA-4D62-9156-453D50EC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193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原文账本</a:t>
            </a:r>
          </a:p>
        </p:txBody>
      </p:sp>
      <p:sp>
        <p:nvSpPr>
          <p:cNvPr id="17" name="pipeline-top-b-1">
            <a:extLst xmlns:a="http://schemas.openxmlformats.org/drawingml/2006/main">
              <a:ext uri="{FF2B5EF4-FFF2-40B4-BE49-F238E27FC236}">
                <a16:creationId xmlns:a16="http://schemas.microsoft.com/office/drawing/2014/main" id="{2841B785-4362-4658-8A6E-41579AC0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拆原文单元并登记去向</a:t>
            </a:r>
          </a:p>
        </p:txBody>
      </p:sp>
      <p:sp>
        <p:nvSpPr>
          <p:cNvPr id="18" name="pipeline-top-2">
            <a:extLst xmlns:a="http://schemas.openxmlformats.org/drawingml/2006/main">
              <a:ext uri="{FF2B5EF4-FFF2-40B4-BE49-F238E27FC236}">
                <a16:creationId xmlns:a16="http://schemas.microsoft.com/office/drawing/2014/main" id="{E2FCFD7E-786D-48C8-A2EA-6A945340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28800"/>
            <a:ext cx="165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pipeline-top-h-2">
            <a:extLst xmlns:a="http://schemas.openxmlformats.org/drawingml/2006/main">
              <a:ext uri="{FF2B5EF4-FFF2-40B4-BE49-F238E27FC236}">
                <a16:creationId xmlns:a16="http://schemas.microsoft.com/office/drawing/2014/main" id="{411A2E1D-7A4D-4CFC-80B2-56B07C70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193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事实模型</a:t>
            </a:r>
          </a:p>
        </p:txBody>
      </p:sp>
      <p:sp>
        <p:nvSpPr>
          <p:cNvPr id="20" name="pipeline-top-b-2">
            <a:extLst xmlns:a="http://schemas.openxmlformats.org/drawingml/2006/main">
              <a:ext uri="{FF2B5EF4-FFF2-40B4-BE49-F238E27FC236}">
                <a16:creationId xmlns:a16="http://schemas.microsoft.com/office/drawing/2014/main" id="{500967E9-B36D-4ACD-9382-90EE1034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提炼事实与不确定性</a:t>
            </a:r>
          </a:p>
        </p:txBody>
      </p:sp>
      <p:sp>
        <p:nvSpPr>
          <p:cNvPr id="21" name="pipeline-top-3">
            <a:extLst xmlns:a="http://schemas.openxmlformats.org/drawingml/2006/main">
              <a:ext uri="{FF2B5EF4-FFF2-40B4-BE49-F238E27FC236}">
                <a16:creationId xmlns:a16="http://schemas.microsoft.com/office/drawing/2014/main" id="{113B9023-9068-4A82-A97F-AD55056C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28800"/>
            <a:ext cx="165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pipeline-top-h-3">
            <a:extLst xmlns:a="http://schemas.openxmlformats.org/drawingml/2006/main">
              <a:ext uri="{FF2B5EF4-FFF2-40B4-BE49-F238E27FC236}">
                <a16:creationId xmlns:a16="http://schemas.microsoft.com/office/drawing/2014/main" id="{05B6F824-E9AD-4D5E-9BD3-C6D760EE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193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规格模型</a:t>
            </a:r>
          </a:p>
        </p:txBody>
      </p:sp>
      <p:sp>
        <p:nvSpPr>
          <p:cNvPr id="23" name="pipeline-top-b-3">
            <a:extLst xmlns:a="http://schemas.openxmlformats.org/drawingml/2006/main">
              <a:ext uri="{FF2B5EF4-FFF2-40B4-BE49-F238E27FC236}">
                <a16:creationId xmlns:a16="http://schemas.microsoft.com/office/drawing/2014/main" id="{9F91CC27-D77F-450C-86ED-5585A81B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syntax / matrix / fixture</a:t>
            </a:r>
          </a:p>
        </p:txBody>
      </p:sp>
      <p:sp>
        <p:nvSpPr>
          <p:cNvPr id="24" name="pipeline-top-4">
            <a:extLst xmlns:a="http://schemas.openxmlformats.org/drawingml/2006/main">
              <a:ext uri="{FF2B5EF4-FFF2-40B4-BE49-F238E27FC236}">
                <a16:creationId xmlns:a16="http://schemas.microsoft.com/office/drawing/2014/main" id="{DB9F80B3-8B35-491F-B5CF-FCB637B1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28800"/>
            <a:ext cx="165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pipeline-top-h-4">
            <a:extLst xmlns:a="http://schemas.openxmlformats.org/drawingml/2006/main">
              <a:ext uri="{FF2B5EF4-FFF2-40B4-BE49-F238E27FC236}">
                <a16:creationId xmlns:a16="http://schemas.microsoft.com/office/drawing/2014/main" id="{2131059A-9FFE-49A9-8CD6-16E9420D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193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Manifest</a:t>
            </a:r>
          </a:p>
        </p:txBody>
      </p:sp>
      <p:sp>
        <p:nvSpPr>
          <p:cNvPr id="26" name="pipeline-top-b-4">
            <a:extLst xmlns:a="http://schemas.openxmlformats.org/drawingml/2006/main">
              <a:ext uri="{FF2B5EF4-FFF2-40B4-BE49-F238E27FC236}">
                <a16:creationId xmlns:a16="http://schemas.microsoft.com/office/drawing/2014/main" id="{D0D11291-3F22-44E5-9749-ED027D4A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选择值域与覆盖意图</a:t>
            </a:r>
          </a:p>
        </p:txBody>
      </p:sp>
      <p:sp>
        <p:nvSpPr>
          <p:cNvPr id="27" name="pipeline-bottom-0">
            <a:extLst xmlns:a="http://schemas.openxmlformats.org/drawingml/2006/main">
              <a:ext uri="{FF2B5EF4-FFF2-40B4-BE49-F238E27FC236}">
                <a16:creationId xmlns:a16="http://schemas.microsoft.com/office/drawing/2014/main" id="{14D1AB9D-7876-4727-AE11-F6020C2B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65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pipeline-bottom-h-0">
            <a:extLst xmlns:a="http://schemas.openxmlformats.org/drawingml/2006/main">
              <a:ext uri="{FF2B5EF4-FFF2-40B4-BE49-F238E27FC236}">
                <a16:creationId xmlns:a16="http://schemas.microsoft.com/office/drawing/2014/main" id="{C8024438-EB3A-4B38-B103-6AF41306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约束过滤</a:t>
            </a:r>
          </a:p>
        </p:txBody>
      </p:sp>
      <p:sp>
        <p:nvSpPr>
          <p:cNvPr id="29" name="pipeline-bottom-b-0">
            <a:extLst xmlns:a="http://schemas.openxmlformats.org/drawingml/2006/main">
              <a:ext uri="{FF2B5EF4-FFF2-40B4-BE49-F238E27FC236}">
                <a16:creationId xmlns:a16="http://schemas.microsoft.com/office/drawing/2014/main" id="{99381BF9-6A6E-44AC-8B71-98173E8D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计算理论可行空间</a:t>
            </a:r>
          </a:p>
        </p:txBody>
      </p:sp>
      <p:sp>
        <p:nvSpPr>
          <p:cNvPr id="30" name="pipeline-bottom-1">
            <a:extLst xmlns:a="http://schemas.openxmlformats.org/drawingml/2006/main">
              <a:ext uri="{FF2B5EF4-FFF2-40B4-BE49-F238E27FC236}">
                <a16:creationId xmlns:a16="http://schemas.microsoft.com/office/drawing/2014/main" id="{FDC5066C-64C1-4381-9FCB-BA4AB90B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57650"/>
            <a:ext cx="165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pipeline-bottom-h-1">
            <a:extLst xmlns:a="http://schemas.openxmlformats.org/drawingml/2006/main">
              <a:ext uri="{FF2B5EF4-FFF2-40B4-BE49-F238E27FC236}">
                <a16:creationId xmlns:a16="http://schemas.microsoft.com/office/drawing/2014/main" id="{1D031934-66B0-4110-8E56-4BF0DB45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48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Pairwise</a:t>
            </a:r>
          </a:p>
        </p:txBody>
      </p:sp>
      <p:sp>
        <p:nvSpPr>
          <p:cNvPr id="32" name="pipeline-bottom-b-1">
            <a:extLst xmlns:a="http://schemas.openxmlformats.org/drawingml/2006/main">
              <a:ext uri="{FF2B5EF4-FFF2-40B4-BE49-F238E27FC236}">
                <a16:creationId xmlns:a16="http://schemas.microsoft.com/office/drawing/2014/main" id="{5526D0C3-3AAA-44EC-9C8F-B24D26FD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86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覆盖所有可行参数对</a:t>
            </a:r>
          </a:p>
        </p:txBody>
      </p:sp>
      <p:sp>
        <p:nvSpPr>
          <p:cNvPr id="33" name="pipeline-bottom-2">
            <a:extLst xmlns:a="http://schemas.openxmlformats.org/drawingml/2006/main">
              <a:ext uri="{FF2B5EF4-FFF2-40B4-BE49-F238E27FC236}">
                <a16:creationId xmlns:a16="http://schemas.microsoft.com/office/drawing/2014/main" id="{25D62BDA-C712-46AC-91FE-D187F25C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57650"/>
            <a:ext cx="165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pipeline-bottom-h-2">
            <a:extLst xmlns:a="http://schemas.openxmlformats.org/drawingml/2006/main">
              <a:ext uri="{FF2B5EF4-FFF2-40B4-BE49-F238E27FC236}">
                <a16:creationId xmlns:a16="http://schemas.microsoft.com/office/drawing/2014/main" id="{CC9FACC8-47AB-4713-AB45-18F18724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48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用例 SQL</a:t>
            </a:r>
          </a:p>
        </p:txBody>
      </p:sp>
      <p:sp>
        <p:nvSpPr>
          <p:cNvPr id="35" name="pipeline-bottom-b-2">
            <a:extLst xmlns:a="http://schemas.openxmlformats.org/drawingml/2006/main">
              <a:ext uri="{FF2B5EF4-FFF2-40B4-BE49-F238E27FC236}">
                <a16:creationId xmlns:a16="http://schemas.microsoft.com/office/drawing/2014/main" id="{3FD006E3-3800-4C31-9CEF-AF91D2DD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86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setup / test / teardown</a:t>
            </a:r>
          </a:p>
        </p:txBody>
      </p:sp>
      <p:sp>
        <p:nvSpPr>
          <p:cNvPr id="36" name="pipeline-bottom-3">
            <a:extLst xmlns:a="http://schemas.openxmlformats.org/drawingml/2006/main">
              <a:ext uri="{FF2B5EF4-FFF2-40B4-BE49-F238E27FC236}">
                <a16:creationId xmlns:a16="http://schemas.microsoft.com/office/drawing/2014/main" id="{83EE0DC7-2BFD-4C15-9BE2-30214368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57650"/>
            <a:ext cx="1657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pipeline-bottom-h-3">
            <a:extLst xmlns:a="http://schemas.openxmlformats.org/drawingml/2006/main">
              <a:ext uri="{FF2B5EF4-FFF2-40B4-BE49-F238E27FC236}">
                <a16:creationId xmlns:a16="http://schemas.microsoft.com/office/drawing/2014/main" id="{F415CCF3-DA44-4C17-9F2C-CF260196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48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审计与场景</a:t>
            </a:r>
          </a:p>
        </p:txBody>
      </p:sp>
      <p:sp>
        <p:nvSpPr>
          <p:cNvPr id="38" name="pipeline-bottom-b-3">
            <a:extLst xmlns:a="http://schemas.openxmlformats.org/drawingml/2006/main">
              <a:ext uri="{FF2B5EF4-FFF2-40B4-BE49-F238E27FC236}">
                <a16:creationId xmlns:a16="http://schemas.microsoft.com/office/drawing/2014/main" id="{79817BA6-D12F-4D4E-9363-4D91F119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86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静态证据 + 行为验证</a:t>
            </a:r>
          </a:p>
        </p:txBody>
      </p:sp>
      <p:sp>
        <p:nvSpPr>
          <p:cNvPr id="39" name="scenario-branch">
            <a:extLst xmlns:a="http://schemas.openxmlformats.org/drawingml/2006/main">
              <a:ext uri="{FF2B5EF4-FFF2-40B4-BE49-F238E27FC236}">
                <a16:creationId xmlns:a16="http://schemas.microsoft.com/office/drawing/2014/main" id="{73A7B37B-2F90-4B61-B019-677D9604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52900"/>
            <a:ext cx="257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行为事实不进入普通 Pairwise，而由 scenario 单独承接</a:t>
            </a:r>
          </a:p>
        </p:txBody>
      </p:sp>
    </p:spTree>
    <p:extLst>
      <p:ext uri="{BB962C8B-B14F-4D97-AF65-F5344CB8AC3E}">
        <p14:creationId xmlns:p14="http://schemas.microsoft.com/office/powerpoint/2010/main" val="1000778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4">
            <a:extLst xmlns:a="http://schemas.openxmlformats.org/drawingml/2006/main">
              <a:ext uri="{FF2B5EF4-FFF2-40B4-BE49-F238E27FC236}">
                <a16:creationId xmlns:a16="http://schemas.microsoft.com/office/drawing/2014/main" id="{5D0F2877-8CF3-4090-BBF4-D4DD20F8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03 · 来源控制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91948B44-EDCF-45A4-B9BC-1E9A0744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抽取前先画边界，再锁定原文身份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41900626-6117-4494-85D7-D39B81D4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A1525410-9815-4CB8-84DB-39FBA4D2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accent-62-180">
            <a:extLst xmlns:a="http://schemas.openxmlformats.org/drawingml/2006/main">
              <a:ext uri="{FF2B5EF4-FFF2-40B4-BE49-F238E27FC236}">
                <a16:creationId xmlns:a16="http://schemas.microsoft.com/office/drawing/2014/main" id="{B99CB22B-33AE-4764-9A26-54C76812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ing-62-180">
            <a:extLst xmlns:a="http://schemas.openxmlformats.org/drawingml/2006/main">
              <a:ext uri="{FF2B5EF4-FFF2-40B4-BE49-F238E27FC236}">
                <a16:creationId xmlns:a16="http://schemas.microsoft.com/office/drawing/2014/main" id="{DE8869A6-54C2-48A1-AAAB-9AE66BDA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464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先决定什么属于 CREATE VIEW</a:t>
            </a:r>
          </a:p>
        </p:txBody>
      </p:sp>
      <p:sp>
        <p:nvSpPr>
          <p:cNvPr id="7" name="body-62-180">
            <a:extLst xmlns:a="http://schemas.openxmlformats.org/drawingml/2006/main">
              <a:ext uri="{FF2B5EF4-FFF2-40B4-BE49-F238E27FC236}">
                <a16:creationId xmlns:a16="http://schemas.microsoft.com/office/drawing/2014/main" id="{BD51333B-EC6C-438E-B8E8-0C4CF63D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6482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• 主产生式、关键字和约束属于本因子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• SELECT 完整语法不复制，只引用查询能力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• ALTER VIEW COMPILE 不是语法槽位，但可成为 FORCE 场景步骤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• 权限、兼容模式、跨会话行为进入 scenario</a:t>
            </a:r>
          </a:p>
        </p:txBody>
      </p:sp>
      <p:sp>
        <p:nvSpPr>
          <p:cNvPr id="8" name="source-hash-panel">
            <a:extLst xmlns:a="http://schemas.openxmlformats.org/drawingml/2006/main">
              <a:ext uri="{FF2B5EF4-FFF2-40B4-BE49-F238E27FC236}">
                <a16:creationId xmlns:a16="http://schemas.microsoft.com/office/drawing/2014/main" id="{D2116B6E-2741-4775-91BD-D38C698C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ource-hash">
            <a:extLst xmlns:a="http://schemas.openxmlformats.org/drawingml/2006/main">
              <a:ext uri="{FF2B5EF4-FFF2-40B4-BE49-F238E27FC236}">
                <a16:creationId xmlns:a16="http://schemas.microsoft.com/office/drawing/2014/main" id="{36034326-207F-4FFF-90BC-D5B06DCB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5720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source: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product: GaussDB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document: CREATE VIEW 产品文档原文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version: unknown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artifact_sha256: 29f390c3509b...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extraction_date: 2026-08-28</a:t>
            </a:r>
          </a:p>
        </p:txBody>
      </p:sp>
      <p:sp>
        <p:nvSpPr>
          <p:cNvPr id="10" name="hash-point">
            <a:extLst xmlns:a="http://schemas.openxmlformats.org/drawingml/2006/main">
              <a:ext uri="{FF2B5EF4-FFF2-40B4-BE49-F238E27FC236}">
                <a16:creationId xmlns:a16="http://schemas.microsoft.com/office/drawing/2014/main" id="{ED741201-BB4D-4601-87DC-0B0B38BE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同一哈希必须同时出现在 source ledger 与 factor。文档内容一旦变化，就必须重新审计。</a:t>
            </a:r>
          </a:p>
        </p:txBody>
      </p:sp>
    </p:spTree>
    <p:extLst>
      <p:ext uri="{BB962C8B-B14F-4D97-AF65-F5344CB8AC3E}">
        <p14:creationId xmlns:p14="http://schemas.microsoft.com/office/powerpoint/2010/main" val="303686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5">
            <a:extLst xmlns:a="http://schemas.openxmlformats.org/drawingml/2006/main">
              <a:ext uri="{FF2B5EF4-FFF2-40B4-BE49-F238E27FC236}">
                <a16:creationId xmlns:a16="http://schemas.microsoft.com/office/drawing/2014/main" id="{38944EBA-4EE9-4C29-B4E7-CA962BA0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04 · 原文覆盖账本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EC6F0FDB-4E82-4340-BC6D-3712AF8C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Source ledger 让每一段原文都有明确去向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8009A0EA-1309-4058-B969-99A660F5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C886CA0B-6BCB-480E-8984-48C8A70D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source-unit-panel">
            <a:extLst xmlns:a="http://schemas.openxmlformats.org/drawingml/2006/main">
              <a:ext uri="{FF2B5EF4-FFF2-40B4-BE49-F238E27FC236}">
                <a16:creationId xmlns:a16="http://schemas.microsoft.com/office/drawing/2014/main" id="{F33A8887-17DF-4257-8E4E-5BAAE4B9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5619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source-unit">
            <a:extLst xmlns:a="http://schemas.openxmlformats.org/drawingml/2006/main">
              <a:ext uri="{FF2B5EF4-FFF2-40B4-BE49-F238E27FC236}">
                <a16:creationId xmlns:a16="http://schemas.microsoft.com/office/drawing/2014/main" id="{9442EFD3-9F5C-48E4-A67E-D88AD3DC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52387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 id: cv_su_temp_dependency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section: 参数说明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line_start: 19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line_end: 19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statement: 引用临时表时，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即使不写 TEMP 也会成为临时视图。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status: mapped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fact_refs: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- cv_fact_temp_dependency</a:t>
            </a:r>
          </a:p>
        </p:txBody>
      </p:sp>
      <p:sp>
        <p:nvSpPr>
          <p:cNvPr id="7" name="status-0">
            <a:extLst xmlns:a="http://schemas.openxmlformats.org/drawingml/2006/main">
              <a:ext uri="{FF2B5EF4-FFF2-40B4-BE49-F238E27FC236}">
                <a16:creationId xmlns:a16="http://schemas.microsoft.com/office/drawing/2014/main" id="{9F330126-0F77-40B3-816E-6BB98989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71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mapped</a:t>
            </a:r>
          </a:p>
        </p:txBody>
      </p:sp>
      <p:sp>
        <p:nvSpPr>
          <p:cNvPr id="8" name="status-body-0">
            <a:extLst xmlns:a="http://schemas.openxmlformats.org/drawingml/2006/main">
              <a:ext uri="{FF2B5EF4-FFF2-40B4-BE49-F238E27FC236}">
                <a16:creationId xmlns:a16="http://schemas.microsoft.com/office/drawing/2014/main" id="{1D0278A9-A88B-4FDD-9F31-BA77FF38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33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已经映射为 fact</a:t>
            </a:r>
          </a:p>
        </p:txBody>
      </p:sp>
      <p:sp>
        <p:nvSpPr>
          <p:cNvPr id="9" name="rule-716-268">
            <a:extLst xmlns:a="http://schemas.openxmlformats.org/drawingml/2006/main">
              <a:ext uri="{FF2B5EF4-FFF2-40B4-BE49-F238E27FC236}">
                <a16:creationId xmlns:a16="http://schemas.microsoft.com/office/drawing/2014/main" id="{297AE629-1640-4082-8424-0CD689FC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527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tatus-1">
            <a:extLst xmlns:a="http://schemas.openxmlformats.org/drawingml/2006/main">
              <a:ext uri="{FF2B5EF4-FFF2-40B4-BE49-F238E27FC236}">
                <a16:creationId xmlns:a16="http://schemas.microsoft.com/office/drawing/2014/main" id="{10EA9422-75E3-4A52-9779-01590DCE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574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open_question</a:t>
            </a:r>
          </a:p>
        </p:txBody>
      </p:sp>
      <p:sp>
        <p:nvSpPr>
          <p:cNvPr id="11" name="status-body-1">
            <a:extLst xmlns:a="http://schemas.openxmlformats.org/drawingml/2006/main">
              <a:ext uri="{FF2B5EF4-FFF2-40B4-BE49-F238E27FC236}">
                <a16:creationId xmlns:a16="http://schemas.microsoft.com/office/drawing/2014/main" id="{14B4A3E4-E25B-4DD9-BDC1-88CD3125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194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原文有歧义，等待验证</a:t>
            </a:r>
          </a:p>
        </p:txBody>
      </p:sp>
      <p:sp>
        <p:nvSpPr>
          <p:cNvPr id="12" name="rule-716-361">
            <a:extLst xmlns:a="http://schemas.openxmlformats.org/drawingml/2006/main">
              <a:ext uri="{FF2B5EF4-FFF2-40B4-BE49-F238E27FC236}">
                <a16:creationId xmlns:a16="http://schemas.microsoft.com/office/drawing/2014/main" id="{337D3E76-B8CD-47CA-88BD-D8985E53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38525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atus-2">
            <a:extLst xmlns:a="http://schemas.openxmlformats.org/drawingml/2006/main">
              <a:ext uri="{FF2B5EF4-FFF2-40B4-BE49-F238E27FC236}">
                <a16:creationId xmlns:a16="http://schemas.microsoft.com/office/drawing/2014/main" id="{EE2B69CC-E181-4CAF-91C0-4B679787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43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out_of_scope</a:t>
            </a:r>
          </a:p>
        </p:txBody>
      </p:sp>
      <p:sp>
        <p:nvSpPr>
          <p:cNvPr id="14" name="status-body-2">
            <a:extLst xmlns:a="http://schemas.openxmlformats.org/drawingml/2006/main">
              <a:ext uri="{FF2B5EF4-FFF2-40B4-BE49-F238E27FC236}">
                <a16:creationId xmlns:a16="http://schemas.microsoft.com/office/drawing/2014/main" id="{C177C43C-6CB2-4289-A4F7-33DFF736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已审阅但不属于当前范围</a:t>
            </a:r>
          </a:p>
        </p:txBody>
      </p:sp>
      <p:sp>
        <p:nvSpPr>
          <p:cNvPr id="15" name="rule-716-454">
            <a:extLst xmlns:a="http://schemas.openxmlformats.org/drawingml/2006/main">
              <a:ext uri="{FF2B5EF4-FFF2-40B4-BE49-F238E27FC236}">
                <a16:creationId xmlns:a16="http://schemas.microsoft.com/office/drawing/2014/main" id="{A327DD5D-3718-4526-87FC-D09B4F36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243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tatus-3">
            <a:extLst xmlns:a="http://schemas.openxmlformats.org/drawingml/2006/main">
              <a:ext uri="{FF2B5EF4-FFF2-40B4-BE49-F238E27FC236}">
                <a16:creationId xmlns:a16="http://schemas.microsoft.com/office/drawing/2014/main" id="{32B0E0CC-56AA-4142-A359-0DCDB633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29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unmapped</a:t>
            </a:r>
          </a:p>
        </p:txBody>
      </p:sp>
      <p:sp>
        <p:nvSpPr>
          <p:cNvPr id="17" name="status-body-3">
            <a:extLst xmlns:a="http://schemas.openxmlformats.org/drawingml/2006/main">
              <a:ext uri="{FF2B5EF4-FFF2-40B4-BE49-F238E27FC236}">
                <a16:creationId xmlns:a16="http://schemas.microsoft.com/office/drawing/2014/main" id="{D7E47B38-E79A-42CF-843A-0D21F457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属于当前范围但尚未建模</a:t>
            </a:r>
          </a:p>
        </p:txBody>
      </p:sp>
      <p:sp>
        <p:nvSpPr>
          <p:cNvPr id="18" name="source-stats">
            <a:extLst xmlns:a="http://schemas.openxmlformats.org/drawingml/2006/main">
              <a:ext uri="{FF2B5EF4-FFF2-40B4-BE49-F238E27FC236}">
                <a16:creationId xmlns:a16="http://schemas.microsoft.com/office/drawing/2014/main" id="{D64DB53D-4DF5-4F24-9942-32628262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当前：71 行全部登记，64 个 source unit 均有处置状态</a:t>
            </a:r>
          </a:p>
        </p:txBody>
      </p:sp>
    </p:spTree>
    <p:extLst>
      <p:ext uri="{BB962C8B-B14F-4D97-AF65-F5344CB8AC3E}">
        <p14:creationId xmlns:p14="http://schemas.microsoft.com/office/powerpoint/2010/main" val="16914791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6">
            <a:extLst xmlns:a="http://schemas.openxmlformats.org/drawingml/2006/main">
              <a:ext uri="{FF2B5EF4-FFF2-40B4-BE49-F238E27FC236}">
                <a16:creationId xmlns:a16="http://schemas.microsoft.com/office/drawing/2014/main" id="{8072E6CC-394E-4752-AE73-EA5CD63B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05 · Source Unit 原子性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51D2564-D078-4EB0-BF5E-E6DD40D4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行覆盖 100% 仍可能是假完整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1E3201E0-DAF5-4566-8C50-7D20367E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C69B478E-3405-4BD8-8664-82601B36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bad-unit">
            <a:extLst xmlns:a="http://schemas.openxmlformats.org/drawingml/2006/main">
              <a:ext uri="{FF2B5EF4-FFF2-40B4-BE49-F238E27FC236}">
                <a16:creationId xmlns:a16="http://schemas.microsoft.com/office/drawing/2014/main" id="{1C8F867C-2849-4BD8-AAC3-2B1F8AE9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bad-label">
            <a:extLst xmlns:a="http://schemas.openxmlformats.org/drawingml/2006/main">
              <a:ext uri="{FF2B5EF4-FFF2-40B4-BE49-F238E27FC236}">
                <a16:creationId xmlns:a16="http://schemas.microsoft.com/office/drawing/2014/main" id="{C656A9BB-7016-41E1-A52D-D3E3F6A3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看似覆盖</a:t>
            </a:r>
          </a:p>
        </p:txBody>
      </p:sp>
      <p:sp>
        <p:nvSpPr>
          <p:cNvPr id="7" name="bad-example">
            <a:extLst xmlns:a="http://schemas.openxmlformats.org/drawingml/2006/main">
              <a:ext uri="{FF2B5EF4-FFF2-40B4-BE49-F238E27FC236}">
                <a16:creationId xmlns:a16="http://schemas.microsoft.com/office/drawing/2014/main" id="{5E65B70D-4E6E-4CA9-BFB6-B40D52BA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361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 个超长 unit</a:t>
            </a:r>
          </a:p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包含 TEMP 生命周期、</a:t>
            </a:r>
          </a:p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临时依赖传播、</a:t>
            </a:r>
          </a:p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自动重编译限制</a:t>
            </a:r>
          </a:p>
        </p:txBody>
      </p:sp>
      <p:sp>
        <p:nvSpPr>
          <p:cNvPr id="8" name="bad-result">
            <a:extLst xmlns:a="http://schemas.openxmlformats.org/drawingml/2006/main">
              <a:ext uri="{FF2B5EF4-FFF2-40B4-BE49-F238E27FC236}">
                <a16:creationId xmlns:a16="http://schemas.microsoft.com/office/drawing/2014/main" id="{42BE9329-884D-4206-BDAF-EFD687DB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行号有覆盖，但事实可能被吞掉</a:t>
            </a:r>
          </a:p>
        </p:txBody>
      </p:sp>
      <p:sp>
        <p:nvSpPr>
          <p:cNvPr id="9" name="arrow-548-330">
            <a:extLst xmlns:a="http://schemas.openxmlformats.org/drawingml/2006/main">
              <a:ext uri="{FF2B5EF4-FFF2-40B4-BE49-F238E27FC236}">
                <a16:creationId xmlns:a16="http://schemas.microsoft.com/office/drawing/2014/main" id="{DF62ACDC-9065-4234-AF8B-DEB294D1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1047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ood-unit">
            <a:extLst xmlns:a="http://schemas.openxmlformats.org/drawingml/2006/main">
              <a:ext uri="{FF2B5EF4-FFF2-40B4-BE49-F238E27FC236}">
                <a16:creationId xmlns:a16="http://schemas.microsoft.com/office/drawing/2014/main" id="{0053A019-6BE5-473C-8158-536358AD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4876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good-label">
            <a:extLst xmlns:a="http://schemas.openxmlformats.org/drawingml/2006/main">
              <a:ext uri="{FF2B5EF4-FFF2-40B4-BE49-F238E27FC236}">
                <a16:creationId xmlns:a16="http://schemas.microsoft.com/office/drawing/2014/main" id="{3292B75B-B49E-4960-A2D7-73E008B0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76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真实覆盖</a:t>
            </a:r>
          </a:p>
        </p:txBody>
      </p:sp>
      <p:sp>
        <p:nvSpPr>
          <p:cNvPr id="12" name="good-example">
            <a:extLst xmlns:a="http://schemas.openxmlformats.org/drawingml/2006/main">
              <a:ext uri="{FF2B5EF4-FFF2-40B4-BE49-F238E27FC236}">
                <a16:creationId xmlns:a16="http://schemas.microsoft.com/office/drawing/2014/main" id="{BE54F8C3-A17D-4176-BE9E-ED674964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 个独立 unit</a:t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① 会话结束自动删除</a:t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② 临时表依赖自动传播</a:t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③ 不支持自动重编译</a:t>
            </a:r>
          </a:p>
        </p:txBody>
      </p:sp>
      <p:sp>
        <p:nvSpPr>
          <p:cNvPr id="13" name="good-result">
            <a:extLst xmlns:a="http://schemas.openxmlformats.org/drawingml/2006/main">
              <a:ext uri="{FF2B5EF4-FFF2-40B4-BE49-F238E27FC236}">
                <a16:creationId xmlns:a16="http://schemas.microsoft.com/office/drawing/2014/main" id="{8BAC5B69-6A09-4011-B4AE-E462E2C4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62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每个判断都能映射到独立 fact 与消费者</a:t>
            </a:r>
          </a:p>
        </p:txBody>
      </p:sp>
      <p:sp>
        <p:nvSpPr>
          <p:cNvPr id="14" name="atomic-gap">
            <a:extLst xmlns:a="http://schemas.openxmlformats.org/drawingml/2006/main">
              <a:ext uri="{FF2B5EF4-FFF2-40B4-BE49-F238E27FC236}">
                <a16:creationId xmlns:a16="http://schemas.microsoft.com/office/drawing/2014/main" id="{71CAB334-E641-4F6C-92F7-5CFEC6A3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78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当前最强审计仍有缺口：0 / 64 个 source unit 完成 atomicity review</a:t>
            </a:r>
          </a:p>
        </p:txBody>
      </p:sp>
    </p:spTree>
    <p:extLst>
      <p:ext uri="{BB962C8B-B14F-4D97-AF65-F5344CB8AC3E}">
        <p14:creationId xmlns:p14="http://schemas.microsoft.com/office/powerpoint/2010/main" val="13024874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7">
            <a:extLst xmlns:a="http://schemas.openxmlformats.org/drawingml/2006/main">
              <a:ext uri="{FF2B5EF4-FFF2-40B4-BE49-F238E27FC236}">
                <a16:creationId xmlns:a16="http://schemas.microsoft.com/office/drawing/2014/main" id="{8824CE4E-C5D7-4027-AE5A-262FFFF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06 · 事实建模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9D522F80-AEDD-42B8-ABB7-45AFC49B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Fact 是系统接受的产品结论，不是原文复制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948ADD67-5462-47D5-9DF7-5C3024AC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074BD048-3ED6-4402-B3B3-67E78088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arrow-406-286">
            <a:extLst xmlns:a="http://schemas.openxmlformats.org/drawingml/2006/main">
              <a:ext uri="{FF2B5EF4-FFF2-40B4-BE49-F238E27FC236}">
                <a16:creationId xmlns:a16="http://schemas.microsoft.com/office/drawing/2014/main" id="{D61A7BA6-0D1F-47D5-B8ED-53459424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24150"/>
            <a:ext cx="8001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claim">
            <a:extLst xmlns:a="http://schemas.openxmlformats.org/drawingml/2006/main">
              <a:ext uri="{FF2B5EF4-FFF2-40B4-BE49-F238E27FC236}">
                <a16:creationId xmlns:a16="http://schemas.microsoft.com/office/drawing/2014/main" id="{73454C95-111A-4006-9038-39473444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ource-claim-title">
            <a:extLst xmlns:a="http://schemas.openxmlformats.org/drawingml/2006/main">
              <a:ext uri="{FF2B5EF4-FFF2-40B4-BE49-F238E27FC236}">
                <a16:creationId xmlns:a16="http://schemas.microsoft.com/office/drawing/2014/main" id="{2D82A6CA-106B-4AC8-8015-1381EA3D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Source unit</a:t>
            </a:r>
          </a:p>
        </p:txBody>
      </p:sp>
      <p:sp>
        <p:nvSpPr>
          <p:cNvPr id="8" name="source-claim-body">
            <a:extLst xmlns:a="http://schemas.openxmlformats.org/drawingml/2006/main">
              <a:ext uri="{FF2B5EF4-FFF2-40B4-BE49-F238E27FC236}">
                <a16:creationId xmlns:a16="http://schemas.microsoft.com/office/drawing/2014/main" id="{1B71E079-4308-42D6-8B4E-72D37BB3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647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原文枚举 16 类不可更新查询，并规定 CHECK OPTION 只能用于可更新视图。</a:t>
            </a:r>
          </a:p>
        </p:txBody>
      </p:sp>
      <p:sp>
        <p:nvSpPr>
          <p:cNvPr id="9" name="fact-a">
            <a:extLst xmlns:a="http://schemas.openxmlformats.org/drawingml/2006/main">
              <a:ext uri="{FF2B5EF4-FFF2-40B4-BE49-F238E27FC236}">
                <a16:creationId xmlns:a16="http://schemas.microsoft.com/office/drawing/2014/main" id="{C7E26EA2-9D51-46B9-90E3-EEDF884D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95450"/>
            <a:ext cx="638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fact-a-title">
            <a:extLst xmlns:a="http://schemas.openxmlformats.org/drawingml/2006/main">
              <a:ext uri="{FF2B5EF4-FFF2-40B4-BE49-F238E27FC236}">
                <a16:creationId xmlns:a16="http://schemas.microsoft.com/office/drawing/2014/main" id="{BFF0B18E-6F1D-41AD-A00D-36097900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050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cv_fact_non_updatable_features</a:t>
            </a:r>
          </a:p>
        </p:txBody>
      </p:sp>
      <p:sp>
        <p:nvSpPr>
          <p:cNvPr id="11" name="fact-a-body">
            <a:extLst xmlns:a="http://schemas.openxmlformats.org/drawingml/2006/main">
              <a:ext uri="{FF2B5EF4-FFF2-40B4-BE49-F238E27FC236}">
                <a16:creationId xmlns:a16="http://schemas.microsoft.com/office/drawing/2014/main" id="{1675C856-7F29-489A-AC26-A4F04D65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431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type: constraint  ·  定义哪些查询 profile 的 updatable = false</a:t>
            </a:r>
          </a:p>
        </p:txBody>
      </p:sp>
      <p:sp>
        <p:nvSpPr>
          <p:cNvPr id="12" name="fact-b">
            <a:extLst xmlns:a="http://schemas.openxmlformats.org/drawingml/2006/main">
              <a:ext uri="{FF2B5EF4-FFF2-40B4-BE49-F238E27FC236}">
                <a16:creationId xmlns:a16="http://schemas.microsoft.com/office/drawing/2014/main" id="{ABA145FD-F010-4F22-A565-D79A8074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6381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fact-b-title">
            <a:extLst xmlns:a="http://schemas.openxmlformats.org/drawingml/2006/main">
              <a:ext uri="{FF2B5EF4-FFF2-40B4-BE49-F238E27FC236}">
                <a16:creationId xmlns:a16="http://schemas.microsoft.com/office/drawing/2014/main" id="{718F7DD0-815E-4AEE-8CBC-7C6A6DA0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718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cv_fact_check_updatable_only</a:t>
            </a:r>
          </a:p>
        </p:txBody>
      </p:sp>
      <p:sp>
        <p:nvSpPr>
          <p:cNvPr id="14" name="fact-b-body">
            <a:extLst xmlns:a="http://schemas.openxmlformats.org/drawingml/2006/main">
              <a:ext uri="{FF2B5EF4-FFF2-40B4-BE49-F238E27FC236}">
                <a16:creationId xmlns:a16="http://schemas.microsoft.com/office/drawing/2014/main" id="{BE959BEA-396B-48FD-A771-5593A76E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100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type: constraint  ·  CHECK OPTION ⇒ query_profile.updatable = true</a:t>
            </a:r>
          </a:p>
        </p:txBody>
      </p:sp>
      <p:sp>
        <p:nvSpPr>
          <p:cNvPr id="15" name="fact-status-title">
            <a:extLst xmlns:a="http://schemas.openxmlformats.org/drawingml/2006/main">
              <a:ext uri="{FF2B5EF4-FFF2-40B4-BE49-F238E27FC236}">
                <a16:creationId xmlns:a16="http://schemas.microsoft.com/office/drawing/2014/main" id="{9FAABBE0-6656-4815-A6F4-2E4C4EE4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Fact 状态决定能否成为硬规则</a:t>
            </a:r>
          </a:p>
        </p:txBody>
      </p:sp>
      <p:sp>
        <p:nvSpPr>
          <p:cNvPr id="16" name="fact-status">
            <a:extLst xmlns:a="http://schemas.openxmlformats.org/drawingml/2006/main">
              <a:ext uri="{FF2B5EF4-FFF2-40B4-BE49-F238E27FC236}">
                <a16:creationId xmlns:a16="http://schemas.microsoft.com/office/drawing/2014/main" id="{C3C2BB77-EF6F-42EF-AAC2-FADE6289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64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confirmed：可直接消费   |   inferred：只能形成有依据的结构契约   |   needs_verification：必须隔离</a:t>
            </a:r>
          </a:p>
        </p:txBody>
      </p:sp>
    </p:spTree>
    <p:extLst>
      <p:ext uri="{BB962C8B-B14F-4D97-AF65-F5344CB8AC3E}">
        <p14:creationId xmlns:p14="http://schemas.microsoft.com/office/powerpoint/2010/main" val="24060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-8">
            <a:extLst xmlns:a="http://schemas.openxmlformats.org/drawingml/2006/main">
              <a:ext uri="{FF2B5EF4-FFF2-40B4-BE49-F238E27FC236}">
                <a16:creationId xmlns:a16="http://schemas.microsoft.com/office/drawing/2014/main" id="{89EAB086-1ABC-4AE6-96B4-B0D77FC4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07 · 规格分流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D1E008AD-EC51-4EE9-9D1E-66425A35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事实必须进入正确的消费者，不能停留在账本里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ED6322F6-49F1-4DFD-8A23-0539F8C5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5E96F6CD-4C5B-43BB-B491-4C02E0C7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33400" y="1600200"/>
          <a:ext xmlns:a="http://schemas.openxmlformats.org/drawingml/2006/main" cx="111252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381250"/>
                <a:gridCol w="5410200"/>
              </a:tblGrid>
              <a:tr h="53578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信息类型</a:t>
                      </a:r>
                    </a:p>
                  </a:txBody>
                  <a:tcPr marL="85725" marR="85725" marT="66675" marB="66675" anchor="ctr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唯一维护位置</a:t>
                      </a:r>
                    </a:p>
                  </a:txBody>
                  <a:tcPr marL="85725" marR="85725" marT="66675" marB="66675" anchor="ctr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负责回答</a:t>
                      </a:r>
                    </a:p>
                  </a:txBody>
                  <a:tcPr marL="85725" marR="85725" marT="66675" marB="66675" anchor="ctr">
                    <a:solidFill>
                      <a:srgbClr val="111318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原文行号、单元与处置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source ledger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有没有漏读？</a:t>
                      </a:r>
                    </a:p>
                  </a:txBody>
                  <a:tcPr marL="85725" marR="85725" marT="66675" marB="66675" anchor="ctr"/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事实、维度、等价类、通用规则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factor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文档最终确认了什么？</a:t>
                      </a:r>
                    </a:p>
                  </a:txBody>
                  <a:tcPr marL="85725" marR="85725" marT="66675" marB="66675" anchor="ctr"/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关键字顺序与槽位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syntax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SQL 怎么排列？</a:t>
                      </a:r>
                    </a:p>
                  </a:txBody>
                  <a:tcPr marL="85725" marR="85725" marT="66675" marB="66675" anchor="ctr"/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多属性查询能力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matrix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查询输出、可更新性和依赖是什么？</a:t>
                      </a:r>
                    </a:p>
                  </a:txBody>
                  <a:tcPr marL="85725" marR="85725" marT="66675" marB="66675" anchor="ctr"/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表、列、类型与 seed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fixture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执行前需要什么对象？</a:t>
                      </a:r>
                    </a:p>
                  </a:txBody>
                  <a:tcPr marL="85725" marR="85725" marT="66675" marB="66675" anchor="ctr"/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取值范围、正负向与 Pairwise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manifest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这一批到底测什么？</a:t>
                      </a:r>
                    </a:p>
                  </a:txBody>
                  <a:tcPr marL="85725" marR="85725" marT="66675" marB="66675" anchor="ctr"/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生命周期、权限、行为、元数据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scenario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单条 SQL 之后如何验证？</a:t>
                      </a:r>
                    </a:p>
                  </a:txBody>
                  <a:tcPr marL="85725" marR="85725" marT="66675" marB="6667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88746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9">
            <a:extLst xmlns:a="http://schemas.openxmlformats.org/drawingml/2006/main">
              <a:ext uri="{FF2B5EF4-FFF2-40B4-BE49-F238E27FC236}">
                <a16:creationId xmlns:a16="http://schemas.microsoft.com/office/drawing/2014/main" id="{BD43477B-02AA-4C12-9D08-021ADB25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08 · 测试维度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A2B6DA26-6485-4AE8-87D1-C31A2757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七个维度把自然语言选项变成可组合变量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9AFC1A7F-B40E-4C81-B8A7-82FB0819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987CBA9D-1FB1-4A70-8500-115A2C89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33400" y="1562100"/>
          <a:ext xmlns:a="http://schemas.openxmlformats.org/drawingml/2006/main" cx="111252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62450"/>
                <a:gridCol w="4381500"/>
              </a:tblGrid>
              <a:tr h="50006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85725" marR="85725" marT="66675" marB="66675" anchor="ctr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主要值</a:t>
                      </a:r>
                    </a:p>
                  </a:txBody>
                  <a:tcPr marL="85725" marR="85725" marT="66675" marB="66675" anchor="ctr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建模意图</a:t>
                      </a:r>
                    </a:p>
                  </a:txBody>
                  <a:tcPr marL="85725" marR="85725" marT="66675" marB="66675" anchor="ctr">
                    <a:solidFill>
                      <a:srgbClr val="11131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or_replace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 / OR REPLACE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创建路径与替换 token</a:t>
                      </a:r>
                    </a:p>
                  </a:txBody>
                  <a:tcPr marL="85725" marR="85725" marT="66675" marB="66675" anchor="ctr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temp_modifier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 / TEMP / TEMPORARY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持久性拼写等价类</a:t>
                      </a:r>
                    </a:p>
                  </a:txBody>
                  <a:tcPr marL="85725" marR="85725" marT="66675" marB="66675" anchor="ctr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force_modifier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 / FORCE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延迟依赖检查 token</a:t>
                      </a:r>
                    </a:p>
                  </a:txBody>
                  <a:tcPr marL="85725" marR="85725" marT="66675" marB="66675" anchor="ctr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column_list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继承 / (c1, c2)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输出列契约</a:t>
                      </a:r>
                    </a:p>
                  </a:txBody>
                  <a:tcPr marL="85725" marR="85725" marT="66675" marB="66675" anchor="ctr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view_options_profile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security / check / 组合 / 非法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重复结构与多属性列表</a:t>
                      </a:r>
                    </a:p>
                  </a:txBody>
                  <a:tcPr marL="85725" marR="85725" marT="66675" marB="66675" anchor="ctr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query_profile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SELECT / VALUES / 16类不可更新形态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查询能力矩阵</a:t>
                      </a:r>
                    </a:p>
                  </a:txBody>
                  <a:tcPr marL="85725" marR="85725" marT="66675" marB="66675" anchor="ctr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post_query_option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 / CHECK / READ ONLY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尾部互斥分支</a:t>
                      </a:r>
                    </a:p>
                  </a:txBody>
                  <a:tcPr marL="85725" marR="85725" marT="66675" marB="66675" anchor="ctr"/>
                </a:tc>
              </a:tr>
            </a:tbl>
          </a:graphicData>
        </a:graphic>
      </p:graphicFrame>
      <p:sp>
        <p:nvSpPr>
          <p:cNvPr id="6" name="ids-not-renders">
            <a:extLst xmlns:a="http://schemas.openxmlformats.org/drawingml/2006/main">
              <a:ext uri="{FF2B5EF4-FFF2-40B4-BE49-F238E27FC236}">
                <a16:creationId xmlns:a16="http://schemas.microsoft.com/office/drawing/2014/main" id="{DB0AD090-FBB5-4D8D-BDA7-74E7EECD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Manifest 选择稳定 value.id；render 只负责输出文本。身份与字符串分离，才能安全重构。</a:t>
            </a:r>
          </a:p>
        </p:txBody>
      </p:sp>
    </p:spTree>
    <p:extLst>
      <p:ext uri="{BB962C8B-B14F-4D97-AF65-F5344CB8AC3E}">
        <p14:creationId xmlns:p14="http://schemas.microsoft.com/office/powerpoint/2010/main" val="12694887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10">
            <a:extLst xmlns:a="http://schemas.openxmlformats.org/drawingml/2006/main">
              <a:ext uri="{FF2B5EF4-FFF2-40B4-BE49-F238E27FC236}">
                <a16:creationId xmlns:a16="http://schemas.microsoft.com/office/drawing/2014/main" id="{5D2244D9-478C-4597-8218-B868074F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09 · 三个关键模型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F1406585-A154-4F14-8B2C-4A79019B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Syntax、Matrix、Fixture 分别解决结构、能力和环境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DEF2A117-8D86-4997-AE5C-FC9CE6C5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E53516A4-0B5F-44D2-BA38-EC5FA89F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rule-435-184">
            <a:extLst xmlns:a="http://schemas.openxmlformats.org/drawingml/2006/main">
              <a:ext uri="{FF2B5EF4-FFF2-40B4-BE49-F238E27FC236}">
                <a16:creationId xmlns:a16="http://schemas.microsoft.com/office/drawing/2014/main" id="{9D6DF4CB-1E56-48AC-B878-29ABC2FB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526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ule-844-184">
            <a:extLst xmlns:a="http://schemas.openxmlformats.org/drawingml/2006/main">
              <a:ext uri="{FF2B5EF4-FFF2-40B4-BE49-F238E27FC236}">
                <a16:creationId xmlns:a16="http://schemas.microsoft.com/office/drawing/2014/main" id="{E4ECC1BF-324E-4DF2-8C93-ABA00DAF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526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accent-58-180">
            <a:extLst xmlns:a="http://schemas.openxmlformats.org/drawingml/2006/main">
              <a:ext uri="{FF2B5EF4-FFF2-40B4-BE49-F238E27FC236}">
                <a16:creationId xmlns:a16="http://schemas.microsoft.com/office/drawing/2014/main" id="{321E53B2-95AD-4373-BD03-FDE05258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ing-58-180">
            <a:extLst xmlns:a="http://schemas.openxmlformats.org/drawingml/2006/main">
              <a:ext uri="{FF2B5EF4-FFF2-40B4-BE49-F238E27FC236}">
                <a16:creationId xmlns:a16="http://schemas.microsoft.com/office/drawing/2014/main" id="{7F86D247-FD32-40DD-B8CC-9DB2D011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Syntax：结构</a:t>
            </a:r>
          </a:p>
        </p:txBody>
      </p:sp>
      <p:sp>
        <p:nvSpPr>
          <p:cNvPr id="9" name="body-58-180">
            <a:extLst xmlns:a="http://schemas.openxmlformats.org/drawingml/2006/main">
              <a:ext uri="{FF2B5EF4-FFF2-40B4-BE49-F238E27FC236}">
                <a16:creationId xmlns:a16="http://schemas.microsoft.com/office/drawing/2014/main" id="{1375E9B7-EEFC-4237-BCA5-F8D7A329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1242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CREATE {or_replace}</a:t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{temp_modifier} {force_modifier}</a:t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VIEW {view_name}</a:t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{column_list} {view_options}</a:t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AS {query} {post_option}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只维护顺序和槽位，不保存候选值。</a:t>
            </a:r>
          </a:p>
        </p:txBody>
      </p:sp>
      <p:sp>
        <p:nvSpPr>
          <p:cNvPr id="10" name="heading-458-180">
            <a:extLst xmlns:a="http://schemas.openxmlformats.org/drawingml/2006/main">
              <a:ext uri="{FF2B5EF4-FFF2-40B4-BE49-F238E27FC236}">
                <a16:creationId xmlns:a16="http://schemas.microsoft.com/office/drawing/2014/main" id="{5F1BE895-91EC-455D-A3A9-574FB29F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Matrix：能力</a:t>
            </a:r>
          </a:p>
        </p:txBody>
      </p:sp>
      <p:sp>
        <p:nvSpPr>
          <p:cNvPr id="11" name="body-458-180">
            <a:extLst xmlns:a="http://schemas.openxmlformats.org/drawingml/2006/main">
              <a:ext uri="{FF2B5EF4-FFF2-40B4-BE49-F238E27FC236}">
                <a16:creationId xmlns:a16="http://schemas.microsoft.com/office/drawing/2014/main" id="{F8003F3E-18B7-4E89-BB9A-5BFBA940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33337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query_group_by_two_columns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output_column_count: 2</a:t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updatable: false</a:t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features: [group_by, aggregate]</a:t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source_tables: [t_view_source]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约束读取属性，不搜索 SQL 字符串。</a:t>
            </a:r>
          </a:p>
        </p:txBody>
      </p:sp>
      <p:sp>
        <p:nvSpPr>
          <p:cNvPr id="12" name="heading-868-180">
            <a:extLst xmlns:a="http://schemas.openxmlformats.org/drawingml/2006/main">
              <a:ext uri="{FF2B5EF4-FFF2-40B4-BE49-F238E27FC236}">
                <a16:creationId xmlns:a16="http://schemas.microsoft.com/office/drawing/2014/main" id="{D8237388-0584-4126-B86F-64355BFC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Fixture：环境</a:t>
            </a:r>
          </a:p>
        </p:txBody>
      </p:sp>
      <p:sp>
        <p:nvSpPr>
          <p:cNvPr id="13" name="body-868-180">
            <a:extLst xmlns:a="http://schemas.openxmlformats.org/drawingml/2006/main">
              <a:ext uri="{FF2B5EF4-FFF2-40B4-BE49-F238E27FC236}">
                <a16:creationId xmlns:a16="http://schemas.microsoft.com/office/drawing/2014/main" id="{CAEE9C47-D3C8-42AF-9FF2-AF6FB60C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33337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t_view_source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col_1 INTEGER</a:t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col_2 INTEGER</a:t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seed: (1,2), (3,4)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编译为幂等 setup / seed / teardown，并验证表列契约。</a:t>
            </a:r>
          </a:p>
        </p:txBody>
      </p:sp>
    </p:spTree>
    <p:extLst>
      <p:ext uri="{BB962C8B-B14F-4D97-AF65-F5344CB8AC3E}">
        <p14:creationId xmlns:p14="http://schemas.microsoft.com/office/powerpoint/2010/main" val="20907823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11">
            <a:extLst xmlns:a="http://schemas.openxmlformats.org/drawingml/2006/main">
              <a:ext uri="{FF2B5EF4-FFF2-40B4-BE49-F238E27FC236}">
                <a16:creationId xmlns:a16="http://schemas.microsoft.com/office/drawing/2014/main" id="{903EFCD2-6A29-4159-BB44-E1A3CA0B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10 · 约束语义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D7F4B91E-7F69-4397-B50C-69E6DC44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产品硬规则与生成结构契约必须分开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E4E4F323-4BDA-4EC0-84B6-255827F2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80C058C1-B8F3-49C4-B231-52C13D64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hard-rule">
            <a:extLst xmlns:a="http://schemas.openxmlformats.org/drawingml/2006/main">
              <a:ext uri="{FF2B5EF4-FFF2-40B4-BE49-F238E27FC236}">
                <a16:creationId xmlns:a16="http://schemas.microsoft.com/office/drawing/2014/main" id="{10362345-E748-41E8-B753-A4DB4748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hard-rule-title">
            <a:extLst xmlns:a="http://schemas.openxmlformats.org/drawingml/2006/main">
              <a:ext uri="{FF2B5EF4-FFF2-40B4-BE49-F238E27FC236}">
                <a16:creationId xmlns:a16="http://schemas.microsoft.com/office/drawing/2014/main" id="{DFD768A8-F8F9-4751-9E39-E1999DE7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产品硬规则</a:t>
            </a:r>
          </a:p>
        </p:txBody>
      </p:sp>
      <p:sp>
        <p:nvSpPr>
          <p:cNvPr id="7" name="hard-rule-code-panel">
            <a:extLst xmlns:a="http://schemas.openxmlformats.org/drawingml/2006/main">
              <a:ext uri="{FF2B5EF4-FFF2-40B4-BE49-F238E27FC236}">
                <a16:creationId xmlns:a16="http://schemas.microsoft.com/office/drawing/2014/main" id="{B6292A1A-5631-43AD-B16A-78980172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476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hard-rule-code">
            <a:extLst xmlns:a="http://schemas.openxmlformats.org/drawingml/2006/main">
              <a:ext uri="{FF2B5EF4-FFF2-40B4-BE49-F238E27FC236}">
                <a16:creationId xmlns:a16="http://schemas.microsoft.com/office/drawing/2014/main" id="{81791599-A210-4A4B-83F7-35BD3F1A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post_query_option in CHECK_OPTIONS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=&gt; query_profile.properties.updatable == true</a:t>
            </a:r>
          </a:p>
        </p:txBody>
      </p:sp>
      <p:sp>
        <p:nvSpPr>
          <p:cNvPr id="9" name="hard-rule-body">
            <a:extLst xmlns:a="http://schemas.openxmlformats.org/drawingml/2006/main">
              <a:ext uri="{FF2B5EF4-FFF2-40B4-BE49-F238E27FC236}">
                <a16:creationId xmlns:a16="http://schemas.microsoft.com/office/drawing/2014/main" id="{D438FC0B-6D3D-478F-9AFB-738CC9DA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来源：confirmed fact</a:t>
            </a:r>
          </a:p>
          <a:p xmlns:a="http://schemas.openxmlformats.org/drawingml/2006/main">
            <a:pPr algn="l">
              <a:defRPr sz="14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作用：判定产品组合合法或非法</a:t>
            </a:r>
          </a:p>
          <a:p xmlns:a="http://schemas.openxmlformats.org/drawingml/2006/main">
            <a:pPr algn="l">
              <a:defRPr sz="14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需要：正向满足证据 + 目标负向违反证据</a:t>
            </a:r>
          </a:p>
        </p:txBody>
      </p:sp>
      <p:sp>
        <p:nvSpPr>
          <p:cNvPr id="10" name="struct-check">
            <a:extLst xmlns:a="http://schemas.openxmlformats.org/drawingml/2006/main">
              <a:ext uri="{FF2B5EF4-FFF2-40B4-BE49-F238E27FC236}">
                <a16:creationId xmlns:a16="http://schemas.microsoft.com/office/drawing/2014/main" id="{BC519B6B-137E-4FA3-A6B2-E098CB49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71650"/>
            <a:ext cx="52197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truct-title">
            <a:extLst xmlns:a="http://schemas.openxmlformats.org/drawingml/2006/main">
              <a:ext uri="{FF2B5EF4-FFF2-40B4-BE49-F238E27FC236}">
                <a16:creationId xmlns:a16="http://schemas.microsoft.com/office/drawing/2014/main" id="{18265CCC-2F57-4A34-8FBB-59B4A04D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生成结构契约</a:t>
            </a:r>
          </a:p>
        </p:txBody>
      </p:sp>
      <p:sp>
        <p:nvSpPr>
          <p:cNvPr id="12" name="struct-code-panel">
            <a:extLst xmlns:a="http://schemas.openxmlformats.org/drawingml/2006/main">
              <a:ext uri="{FF2B5EF4-FFF2-40B4-BE49-F238E27FC236}">
                <a16:creationId xmlns:a16="http://schemas.microsoft.com/office/drawing/2014/main" id="{88F937E0-39ED-46CC-BDE7-89D16E98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4648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ruct-code">
            <a:extLst xmlns:a="http://schemas.openxmlformats.org/drawingml/2006/main">
              <a:ext uri="{FF2B5EF4-FFF2-40B4-BE49-F238E27FC236}">
                <a16:creationId xmlns:a16="http://schemas.microsoft.com/office/drawing/2014/main" id="{57E1DD51-8ABF-4268-A604-EF75F5FC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426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column_list.output_column_count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== query_profile.output_column_count</a:t>
            </a:r>
          </a:p>
        </p:txBody>
      </p:sp>
      <p:sp>
        <p:nvSpPr>
          <p:cNvPr id="14" name="struct-body">
            <a:extLst xmlns:a="http://schemas.openxmlformats.org/drawingml/2006/main">
              <a:ext uri="{FF2B5EF4-FFF2-40B4-BE49-F238E27FC236}">
                <a16:creationId xmlns:a16="http://schemas.microsoft.com/office/drawing/2014/main" id="{55A41156-8CA4-4E06-83AD-D192B455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464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来源：结构需求或 inferred fact</a:t>
            </a:r>
          </a:p>
          <a:p xmlns:a="http://schemas.openxmlformats.org/drawingml/2006/main">
            <a:pPr algn="l">
              <a:defRPr sz="14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作用：避免生成明显自相矛盾 SQL</a:t>
            </a:r>
          </a:p>
          <a:p xmlns:a="http://schemas.openxmlformats.org/drawingml/2006/main">
            <a:pPr algn="l">
              <a:defRPr sz="14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不能：冒充文档已经确认的数据库错误规则</a:t>
            </a:r>
          </a:p>
        </p:txBody>
      </p:sp>
      <p:sp>
        <p:nvSpPr>
          <p:cNvPr id="15" name="semantic-rule">
            <a:extLst xmlns:a="http://schemas.openxmlformats.org/drawingml/2006/main">
              <a:ext uri="{FF2B5EF4-FFF2-40B4-BE49-F238E27FC236}">
                <a16:creationId xmlns:a16="http://schemas.microsoft.com/office/drawing/2014/main" id="{F3E9BEAD-4328-413C-811C-C6D8D105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078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原则：规则表达语义属性，而不是 query contains 'GROUP BY' 之类字符串猜测。</a:t>
            </a:r>
          </a:p>
        </p:txBody>
      </p:sp>
    </p:spTree>
    <p:extLst>
      <p:ext uri="{BB962C8B-B14F-4D97-AF65-F5344CB8AC3E}">
        <p14:creationId xmlns:p14="http://schemas.microsoft.com/office/powerpoint/2010/main" val="16156604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12">
            <a:extLst xmlns:a="http://schemas.openxmlformats.org/drawingml/2006/main">
              <a:ext uri="{FF2B5EF4-FFF2-40B4-BE49-F238E27FC236}">
                <a16:creationId xmlns:a16="http://schemas.microsoft.com/office/drawing/2014/main" id="{A74FFA0C-FAA0-4E36-8937-88E90757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11 · 测试清单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6394850E-2A01-499F-9FA4-B41F70F0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七个 Manifest 把不同测试意图拆成独立套件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70F34F7D-9B82-4549-BB75-17766D6D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0877D58E-0696-4EE1-9EA7-B5121E7D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33400" y="1562100"/>
          <a:ext xmlns:a="http://schemas.openxmlformats.org/drawingml/2006/main" cx="111252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334000"/>
                <a:gridCol w="1714500"/>
                <a:gridCol w="1219200"/>
              </a:tblGrid>
              <a:tr h="50006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Suite</a:t>
                      </a:r>
                    </a:p>
                  </a:txBody>
                  <a:tcPr marL="85725" marR="85725" marT="66675" marB="66675" anchor="ctr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目的</a:t>
                      </a:r>
                    </a:p>
                  </a:txBody>
                  <a:tcPr marL="85725" marR="85725" marT="66675" marB="66675" anchor="ctr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</a:t>
                      </a:r>
                    </a:p>
                  </a:txBody>
                  <a:tcPr marL="85725" marR="85725" marT="66675" marB="66675" anchor="ctr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SQL</a:t>
                      </a:r>
                    </a:p>
                  </a:txBody>
                  <a:tcPr marL="85725" marR="85725" marT="66675" marB="66675" anchor="ctr">
                    <a:solidFill>
                      <a:srgbClr val="11131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basic_positive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主修饰符、列名、查询、尾部选项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positive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</a:t>
                      </a:r>
                    </a:p>
                  </a:txBody>
                  <a:tcPr marL="85725" marR="85725" marT="66675" marB="66675" anchor="ctr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options_positive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security/check 参数列表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positive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22</a:t>
                      </a:r>
                    </a:p>
                  </a:txBody>
                  <a:tcPr marL="85725" marR="85725" marT="66675" marB="66675" anchor="ctr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read_only_non_updatable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不可更新查询仍可 READ ONLY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positive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</a:t>
                      </a:r>
                    </a:p>
                  </a:txBody>
                  <a:tcPr marL="85725" marR="85725" marT="66675" marB="66675" anchor="ctr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schema_qualified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schema-qualified 视图名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positive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85725" marR="85725" marT="66675" marB="66675" anchor="ctr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invalid_options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非法 option 名和值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negative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85725" marR="85725" marT="66675" marB="66675" anchor="ctr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non_updatable_trailing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不可更新查询 × 尾部 CHECK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negative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</a:t>
                      </a:r>
                    </a:p>
                  </a:txBody>
                  <a:tcPr marL="85725" marR="85725" marT="66675" marB="66675" anchor="ctr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non_updatable_option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不可更新查询 × 参数型 CHECK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negative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</a:t>
                      </a:r>
                    </a:p>
                  </a:txBody>
                  <a:tcPr marL="85725" marR="85725" marT="66675" marB="66675" anchor="ctr"/>
                </a:tc>
              </a:tr>
            </a:tbl>
          </a:graphicData>
        </a:graphic>
      </p:graphicFrame>
      <p:sp>
        <p:nvSpPr>
          <p:cNvPr id="6" name="manifest-total">
            <a:extLst xmlns:a="http://schemas.openxmlformats.org/drawingml/2006/main">
              <a:ext uri="{FF2B5EF4-FFF2-40B4-BE49-F238E27FC236}">
                <a16:creationId xmlns:a16="http://schemas.microsoft.com/office/drawing/2014/main" id="{F08BE504-264E-4A2D-9B42-EF56EE5B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合计 140 条静态候选 SQL。拆分的价值不是文件更多，而是每个套件只有一个明确测试目的。</a:t>
            </a:r>
          </a:p>
        </p:txBody>
      </p:sp>
    </p:spTree>
    <p:extLst>
      <p:ext uri="{BB962C8B-B14F-4D97-AF65-F5344CB8AC3E}">
        <p14:creationId xmlns:p14="http://schemas.microsoft.com/office/powerpoint/2010/main" val="1523177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13">
            <a:extLst xmlns:a="http://schemas.openxmlformats.org/drawingml/2006/main">
              <a:ext uri="{FF2B5EF4-FFF2-40B4-BE49-F238E27FC236}">
                <a16:creationId xmlns:a16="http://schemas.microsoft.com/office/drawing/2014/main" id="{8AE3D5AC-48AB-4F43-8784-4F57A978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12 · 组合策略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575CC10D-9062-4A6D-B181-21D8319B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Pairwise 压缩用例，但绝不降低可行二元交互覆盖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F4A05FB5-2ED7-4BDE-99A7-3CFBB89B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A10499A4-B363-4548-AA58-BB214711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5" name="pairwise-intro">
            <a:extLst xmlns:a="http://schemas.openxmlformats.org/drawingml/2006/main">
              <a:ext uri="{FF2B5EF4-FFF2-40B4-BE49-F238E27FC236}">
                <a16:creationId xmlns:a16="http://schemas.microsoft.com/office/drawing/2014/main" id="{42BA93EC-EBFE-406E-938C-BEC2ADF1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基础正向清单：2 × 3 × 2 × 2 × 1 × 4 × 5</a:t>
            </a:r>
          </a:p>
        </p:txBody>
      </p:sp>
      <p:sp>
        <p:nvSpPr>
          <p:cNvPr id="6" name="metric-0">
            <a:extLst xmlns:a="http://schemas.openxmlformats.org/drawingml/2006/main">
              <a:ext uri="{FF2B5EF4-FFF2-40B4-BE49-F238E27FC236}">
                <a16:creationId xmlns:a16="http://schemas.microsoft.com/office/drawing/2014/main" id="{5E6DD7E4-534C-41C4-B886-F530E7F9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metric-num-0">
            <a:extLst xmlns:a="http://schemas.openxmlformats.org/drawingml/2006/main">
              <a:ext uri="{FF2B5EF4-FFF2-40B4-BE49-F238E27FC236}">
                <a16:creationId xmlns:a16="http://schemas.microsoft.com/office/drawing/2014/main" id="{AFA7C634-675B-46B2-9DA4-ED2EB058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838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480</a:t>
            </a:r>
          </a:p>
        </p:txBody>
      </p:sp>
      <p:sp>
        <p:nvSpPr>
          <p:cNvPr id="8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4E1C4C4B-BB75-44C6-818D-524FC14E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候选全排列</a:t>
            </a:r>
          </a:p>
        </p:txBody>
      </p:sp>
      <p:sp>
        <p:nvSpPr>
          <p:cNvPr id="9" name="metric-1">
            <a:extLst xmlns:a="http://schemas.openxmlformats.org/drawingml/2006/main">
              <a:ext uri="{FF2B5EF4-FFF2-40B4-BE49-F238E27FC236}">
                <a16:creationId xmlns:a16="http://schemas.microsoft.com/office/drawing/2014/main" id="{3A6FADE8-2476-47AC-8B48-17633D16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metric-num-1">
            <a:extLst xmlns:a="http://schemas.openxmlformats.org/drawingml/2006/main">
              <a:ext uri="{FF2B5EF4-FFF2-40B4-BE49-F238E27FC236}">
                <a16:creationId xmlns:a16="http://schemas.microsoft.com/office/drawing/2014/main" id="{1DD7841F-5A6D-4413-BEBB-BD2511BF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2838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408</a:t>
            </a:r>
          </a:p>
        </p:txBody>
      </p:sp>
      <p:sp>
        <p:nvSpPr>
          <p:cNvPr id="11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5DB045EB-DB28-41C9-A96F-EEA3BE7E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规则过滤后的可行组合</a:t>
            </a:r>
          </a:p>
        </p:txBody>
      </p:sp>
      <p:sp>
        <p:nvSpPr>
          <p:cNvPr id="12" name="metric-2">
            <a:extLst xmlns:a="http://schemas.openxmlformats.org/drawingml/2006/main">
              <a:ext uri="{FF2B5EF4-FFF2-40B4-BE49-F238E27FC236}">
                <a16:creationId xmlns:a16="http://schemas.microsoft.com/office/drawing/2014/main" id="{CD781CC0-5F4E-437E-929F-FB254962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metric-num-2">
            <a:extLst xmlns:a="http://schemas.openxmlformats.org/drawingml/2006/main">
              <a:ext uri="{FF2B5EF4-FFF2-40B4-BE49-F238E27FC236}">
                <a16:creationId xmlns:a16="http://schemas.microsoft.com/office/drawing/2014/main" id="{B99F0445-FB83-4547-8BEF-FBCF5C1A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838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14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D51918F6-FB84-4765-9B01-214BCAF3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最终 Pairwise SQL</a:t>
            </a:r>
          </a:p>
        </p:txBody>
      </p:sp>
      <p:sp>
        <p:nvSpPr>
          <p:cNvPr id="15" name="pair-summary">
            <a:extLst xmlns:a="http://schemas.openxmlformats.org/drawingml/2006/main">
              <a:ext uri="{FF2B5EF4-FFF2-40B4-BE49-F238E27FC236}">
                <a16:creationId xmlns:a16="http://schemas.microsoft.com/office/drawing/2014/main" id="{EFA87656-59F7-4773-8FC7-F8182C22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1074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146 / 146 个可行参数对全部覆盖，missing_pairs = 0</a:t>
            </a:r>
          </a:p>
        </p:txBody>
      </p:sp>
      <p:sp>
        <p:nvSpPr>
          <p:cNvPr id="16" name="pair-boundary">
            <a:extLst xmlns:a="http://schemas.openxmlformats.org/drawingml/2006/main">
              <a:ext uri="{FF2B5EF4-FFF2-40B4-BE49-F238E27FC236}">
                <a16:creationId xmlns:a16="http://schemas.microsoft.com/office/drawing/2014/main" id="{0CF0EC7F-E44D-444E-8E32-EABBDB39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Pairwise 保证二阶交互，不保证三阶组合、生命周期或数据库行为。</a:t>
            </a:r>
          </a:p>
        </p:txBody>
      </p:sp>
    </p:spTree>
    <p:extLst>
      <p:ext uri="{BB962C8B-B14F-4D97-AF65-F5344CB8AC3E}">
        <p14:creationId xmlns:p14="http://schemas.microsoft.com/office/powerpoint/2010/main" val="7452896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eyebrow-14">
            <a:extLst xmlns:a="http://schemas.openxmlformats.org/drawingml/2006/main">
              <a:ext uri="{FF2B5EF4-FFF2-40B4-BE49-F238E27FC236}">
                <a16:creationId xmlns:a16="http://schemas.microsoft.com/office/drawing/2014/main" id="{153AC7E0-A8E0-455D-BDB3-AAA8B635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13 · 生成机制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124A0BC4-426E-4A57-B06D-AF989968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生成器像编译器：先验证语义，再输出 SQL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B1EDDDE5-0FAE-449B-A7CF-7AB2AC1B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40DCC934-AA5C-45A6-A741-A89B6C26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" name="arrow-272-246">
            <a:extLst xmlns:a="http://schemas.openxmlformats.org/drawingml/2006/main">
              <a:ext uri="{FF2B5EF4-FFF2-40B4-BE49-F238E27FC236}">
                <a16:creationId xmlns:a16="http://schemas.microsoft.com/office/drawing/2014/main" id="{E4A13963-BFE5-4DA7-A287-9EA70567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431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570-246">
            <a:extLst xmlns:a="http://schemas.openxmlformats.org/drawingml/2006/main">
              <a:ext uri="{FF2B5EF4-FFF2-40B4-BE49-F238E27FC236}">
                <a16:creationId xmlns:a16="http://schemas.microsoft.com/office/drawing/2014/main" id="{6BFB78D8-40E1-4A97-A402-F5CA1702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868-246">
            <a:extLst xmlns:a="http://schemas.openxmlformats.org/drawingml/2006/main">
              <a:ext uri="{FF2B5EF4-FFF2-40B4-BE49-F238E27FC236}">
                <a16:creationId xmlns:a16="http://schemas.microsoft.com/office/drawing/2014/main" id="{5114098E-7CCC-434B-AF5F-7F678725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own-arrow">
            <a:extLst xmlns:a="http://schemas.openxmlformats.org/drawingml/2006/main">
              <a:ext uri="{FF2B5EF4-FFF2-40B4-BE49-F238E27FC236}">
                <a16:creationId xmlns:a16="http://schemas.microsoft.com/office/drawing/2014/main" id="{DB35D341-0333-4070-AC2C-A8481528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76600"/>
            <a:ext cx="2667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eft-arrow-4">
            <a:extLst xmlns:a="http://schemas.openxmlformats.org/drawingml/2006/main">
              <a:ext uri="{FF2B5EF4-FFF2-40B4-BE49-F238E27FC236}">
                <a16:creationId xmlns:a16="http://schemas.microsoft.com/office/drawing/2014/main" id="{40C3A2E7-AEA9-4EFF-825B-21F5E57B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52950"/>
            <a:ext cx="5143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ft-arrow-5">
            <a:extLst xmlns:a="http://schemas.openxmlformats.org/drawingml/2006/main">
              <a:ext uri="{FF2B5EF4-FFF2-40B4-BE49-F238E27FC236}">
                <a16:creationId xmlns:a16="http://schemas.microsoft.com/office/drawing/2014/main" id="{74259288-5DE0-4F0F-919C-9F21B5FA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52950"/>
            <a:ext cx="5143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eft-arrow-6">
            <a:extLst xmlns:a="http://schemas.openxmlformats.org/drawingml/2006/main">
              <a:ext uri="{FF2B5EF4-FFF2-40B4-BE49-F238E27FC236}">
                <a16:creationId xmlns:a16="http://schemas.microsoft.com/office/drawing/2014/main" id="{3372BD3A-406B-48AA-901C-5F5F01C4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52950"/>
            <a:ext cx="5143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en-node-0">
            <a:extLst xmlns:a="http://schemas.openxmlformats.org/drawingml/2006/main">
              <a:ext uri="{FF2B5EF4-FFF2-40B4-BE49-F238E27FC236}">
                <a16:creationId xmlns:a16="http://schemas.microsoft.com/office/drawing/2014/main" id="{C35FFC4C-5E47-4AB5-89CB-5A26D9FA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gen-h-0">
            <a:extLst xmlns:a="http://schemas.openxmlformats.org/drawingml/2006/main">
              <a:ext uri="{FF2B5EF4-FFF2-40B4-BE49-F238E27FC236}">
                <a16:creationId xmlns:a16="http://schemas.microsoft.com/office/drawing/2014/main" id="{107080DF-95A0-4F4C-B9F8-809EAF66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严格加载</a:t>
            </a:r>
          </a:p>
        </p:txBody>
      </p:sp>
      <p:sp>
        <p:nvSpPr>
          <p:cNvPr id="14" name="gen-b-0">
            <a:extLst xmlns:a="http://schemas.openxmlformats.org/drawingml/2006/main">
              <a:ext uri="{FF2B5EF4-FFF2-40B4-BE49-F238E27FC236}">
                <a16:creationId xmlns:a16="http://schemas.microsoft.com/office/drawing/2014/main" id="{D0F8711D-E961-40AB-8C49-6527FB03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字段 / ID / 引用</a:t>
            </a:r>
          </a:p>
        </p:txBody>
      </p:sp>
      <p:sp>
        <p:nvSpPr>
          <p:cNvPr id="15" name="gen-node-1">
            <a:extLst xmlns:a="http://schemas.openxmlformats.org/drawingml/2006/main">
              <a:ext uri="{FF2B5EF4-FFF2-40B4-BE49-F238E27FC236}">
                <a16:creationId xmlns:a16="http://schemas.microsoft.com/office/drawing/2014/main" id="{BC284668-72E4-4F30-A593-2D1CFD18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8595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gen-h-1">
            <a:extLst xmlns:a="http://schemas.openxmlformats.org/drawingml/2006/main">
              <a:ext uri="{FF2B5EF4-FFF2-40B4-BE49-F238E27FC236}">
                <a16:creationId xmlns:a16="http://schemas.microsoft.com/office/drawing/2014/main" id="{E8FDBF14-285F-4BC3-8F35-327B7147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764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解析值</a:t>
            </a:r>
          </a:p>
        </p:txBody>
      </p:sp>
      <p:sp>
        <p:nvSpPr>
          <p:cNvPr id="17" name="gen-b-1">
            <a:extLst xmlns:a="http://schemas.openxmlformats.org/drawingml/2006/main">
              <a:ext uri="{FF2B5EF4-FFF2-40B4-BE49-F238E27FC236}">
                <a16:creationId xmlns:a16="http://schemas.microsoft.com/office/drawing/2014/main" id="{F4709B69-848C-4BB1-9760-36A3E616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ID → render + properties</a:t>
            </a:r>
          </a:p>
        </p:txBody>
      </p:sp>
      <p:sp>
        <p:nvSpPr>
          <p:cNvPr id="18" name="gen-node-2">
            <a:extLst xmlns:a="http://schemas.openxmlformats.org/drawingml/2006/main">
              <a:ext uri="{FF2B5EF4-FFF2-40B4-BE49-F238E27FC236}">
                <a16:creationId xmlns:a16="http://schemas.microsoft.com/office/drawing/2014/main" id="{D29AE557-0030-4B67-A396-46117FD6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gen-h-2">
            <a:extLst xmlns:a="http://schemas.openxmlformats.org/drawingml/2006/main">
              <a:ext uri="{FF2B5EF4-FFF2-40B4-BE49-F238E27FC236}">
                <a16:creationId xmlns:a16="http://schemas.microsoft.com/office/drawing/2014/main" id="{75C7B1C0-101E-4BFC-86F2-62A07278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约束求解</a:t>
            </a:r>
          </a:p>
        </p:txBody>
      </p:sp>
      <p:sp>
        <p:nvSpPr>
          <p:cNvPr id="20" name="gen-b-2">
            <a:extLst xmlns:a="http://schemas.openxmlformats.org/drawingml/2006/main">
              <a:ext uri="{FF2B5EF4-FFF2-40B4-BE49-F238E27FC236}">
                <a16:creationId xmlns:a16="http://schemas.microsoft.com/office/drawing/2014/main" id="{CA033FEB-61D1-4B8D-8D32-CB17C4E9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规则 + 结构契约</a:t>
            </a:r>
          </a:p>
        </p:txBody>
      </p:sp>
      <p:sp>
        <p:nvSpPr>
          <p:cNvPr id="21" name="gen-node-3">
            <a:extLst xmlns:a="http://schemas.openxmlformats.org/drawingml/2006/main">
              <a:ext uri="{FF2B5EF4-FFF2-40B4-BE49-F238E27FC236}">
                <a16:creationId xmlns:a16="http://schemas.microsoft.com/office/drawing/2014/main" id="{4A6FD088-82BF-4FD9-89AF-42AA5708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gen-h-3">
            <a:extLst xmlns:a="http://schemas.openxmlformats.org/drawingml/2006/main">
              <a:ext uri="{FF2B5EF4-FFF2-40B4-BE49-F238E27FC236}">
                <a16:creationId xmlns:a16="http://schemas.microsoft.com/office/drawing/2014/main" id="{8C4E0BBE-4D74-4051-9CF3-61BBF7F2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764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可行 Pair</a:t>
            </a:r>
          </a:p>
        </p:txBody>
      </p:sp>
      <p:sp>
        <p:nvSpPr>
          <p:cNvPr id="23" name="gen-b-3">
            <a:extLst xmlns:a="http://schemas.openxmlformats.org/drawingml/2006/main">
              <a:ext uri="{FF2B5EF4-FFF2-40B4-BE49-F238E27FC236}">
                <a16:creationId xmlns:a16="http://schemas.microsoft.com/office/drawing/2014/main" id="{D438C7F0-5BE8-4600-BC47-E63BBA63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146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理论覆盖目标</a:t>
            </a:r>
          </a:p>
        </p:txBody>
      </p:sp>
      <p:sp>
        <p:nvSpPr>
          <p:cNvPr id="24" name="gen-node-4">
            <a:extLst xmlns:a="http://schemas.openxmlformats.org/drawingml/2006/main">
              <a:ext uri="{FF2B5EF4-FFF2-40B4-BE49-F238E27FC236}">
                <a16:creationId xmlns:a16="http://schemas.microsoft.com/office/drawing/2014/main" id="{CD6B9036-097A-4CBE-AA4F-ADA09159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9575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gen-h-4">
            <a:extLst xmlns:a="http://schemas.openxmlformats.org/drawingml/2006/main">
              <a:ext uri="{FF2B5EF4-FFF2-40B4-BE49-F238E27FC236}">
                <a16:creationId xmlns:a16="http://schemas.microsoft.com/office/drawing/2014/main" id="{15FC8C8F-D2F4-4941-A766-0080C6BE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选择用例</a:t>
            </a:r>
          </a:p>
        </p:txBody>
      </p:sp>
      <p:sp>
        <p:nvSpPr>
          <p:cNvPr id="26" name="gen-b-4">
            <a:extLst xmlns:a="http://schemas.openxmlformats.org/drawingml/2006/main">
              <a:ext uri="{FF2B5EF4-FFF2-40B4-BE49-F238E27FC236}">
                <a16:creationId xmlns:a16="http://schemas.microsoft.com/office/drawing/2014/main" id="{8D8368BF-1220-4EC9-9993-B07AA407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244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100% Pairwise</a:t>
            </a:r>
          </a:p>
        </p:txBody>
      </p:sp>
      <p:sp>
        <p:nvSpPr>
          <p:cNvPr id="27" name="gen-node-5">
            <a:extLst xmlns:a="http://schemas.openxmlformats.org/drawingml/2006/main">
              <a:ext uri="{FF2B5EF4-FFF2-40B4-BE49-F238E27FC236}">
                <a16:creationId xmlns:a16="http://schemas.microsoft.com/office/drawing/2014/main" id="{4F8DF7A5-16AF-4BA8-93AC-EA28B97D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gen-h-5">
            <a:extLst xmlns:a="http://schemas.openxmlformats.org/drawingml/2006/main">
              <a:ext uri="{FF2B5EF4-FFF2-40B4-BE49-F238E27FC236}">
                <a16:creationId xmlns:a16="http://schemas.microsoft.com/office/drawing/2014/main" id="{6CE0EC15-0454-4469-89A1-84296178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渲染 SQL</a:t>
            </a:r>
          </a:p>
        </p:txBody>
      </p:sp>
      <p:sp>
        <p:nvSpPr>
          <p:cNvPr id="29" name="gen-b-5">
            <a:extLst xmlns:a="http://schemas.openxmlformats.org/drawingml/2006/main">
              <a:ext uri="{FF2B5EF4-FFF2-40B4-BE49-F238E27FC236}">
                <a16:creationId xmlns:a16="http://schemas.microsoft.com/office/drawing/2014/main" id="{C77F52E3-0E1A-4087-8766-F0AF7F63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244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syntax / AST</a:t>
            </a:r>
          </a:p>
        </p:txBody>
      </p:sp>
      <p:sp>
        <p:nvSpPr>
          <p:cNvPr id="30" name="gen-node-6">
            <a:extLst xmlns:a="http://schemas.openxmlformats.org/drawingml/2006/main">
              <a:ext uri="{FF2B5EF4-FFF2-40B4-BE49-F238E27FC236}">
                <a16:creationId xmlns:a16="http://schemas.microsoft.com/office/drawing/2014/main" id="{2AA3E999-0C1C-4655-8DAD-90565BE3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9575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gen-h-6">
            <a:extLst xmlns:a="http://schemas.openxmlformats.org/drawingml/2006/main">
              <a:ext uri="{FF2B5EF4-FFF2-40B4-BE49-F238E27FC236}">
                <a16:creationId xmlns:a16="http://schemas.microsoft.com/office/drawing/2014/main" id="{09E33DF0-A799-4663-91D0-E116E753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862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Fixture 契约</a:t>
            </a:r>
          </a:p>
        </p:txBody>
      </p:sp>
      <p:sp>
        <p:nvSpPr>
          <p:cNvPr id="32" name="gen-b-6">
            <a:extLst xmlns:a="http://schemas.openxmlformats.org/drawingml/2006/main">
              <a:ext uri="{FF2B5EF4-FFF2-40B4-BE49-F238E27FC236}">
                <a16:creationId xmlns:a16="http://schemas.microsoft.com/office/drawing/2014/main" id="{D7141A65-069F-4CB2-A266-39C4CB6A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244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表列与生命周期</a:t>
            </a:r>
          </a:p>
        </p:txBody>
      </p:sp>
      <p:sp>
        <p:nvSpPr>
          <p:cNvPr id="33" name="gen-node-7">
            <a:extLst xmlns:a="http://schemas.openxmlformats.org/drawingml/2006/main">
              <a:ext uri="{FF2B5EF4-FFF2-40B4-BE49-F238E27FC236}">
                <a16:creationId xmlns:a16="http://schemas.microsoft.com/office/drawing/2014/main" id="{C07EA883-2697-461F-BE69-25EEFE34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gen-h-7">
            <a:extLst xmlns:a="http://schemas.openxmlformats.org/drawingml/2006/main">
              <a:ext uri="{FF2B5EF4-FFF2-40B4-BE49-F238E27FC236}">
                <a16:creationId xmlns:a16="http://schemas.microsoft.com/office/drawing/2014/main" id="{76242A17-1B4D-4F5C-9848-C7007331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输出报告</a:t>
            </a:r>
          </a:p>
        </p:txBody>
      </p:sp>
      <p:sp>
        <p:nvSpPr>
          <p:cNvPr id="35" name="gen-b-7">
            <a:extLst xmlns:a="http://schemas.openxmlformats.org/drawingml/2006/main">
              <a:ext uri="{FF2B5EF4-FFF2-40B4-BE49-F238E27FC236}">
                <a16:creationId xmlns:a16="http://schemas.microsoft.com/office/drawing/2014/main" id="{2BC76063-A888-44AF-BE68-D139A100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ID / SQL / missing pairs</a:t>
            </a:r>
          </a:p>
        </p:txBody>
      </p:sp>
    </p:spTree>
    <p:extLst>
      <p:ext uri="{BB962C8B-B14F-4D97-AF65-F5344CB8AC3E}">
        <p14:creationId xmlns:p14="http://schemas.microsoft.com/office/powerpoint/2010/main" val="17034471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15">
            <a:extLst xmlns:a="http://schemas.openxmlformats.org/drawingml/2006/main">
              <a:ext uri="{FF2B5EF4-FFF2-40B4-BE49-F238E27FC236}">
                <a16:creationId xmlns:a16="http://schemas.microsoft.com/office/drawing/2014/main" id="{474BB632-3FC9-455F-B31A-63ECDB69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14 · 用例追踪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D4D899F8-5B75-416B-8C13-BA889B81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一组稳定 ID 最终如何变成完整测试用例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4BA1A664-8FB1-4B40-84FB-BC8A3D76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49187447-DBEB-4B74-BC68-A320F6C4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" name="selected-ids-panel">
            <a:extLst xmlns:a="http://schemas.openxmlformats.org/drawingml/2006/main">
              <a:ext uri="{FF2B5EF4-FFF2-40B4-BE49-F238E27FC236}">
                <a16:creationId xmlns:a16="http://schemas.microsoft.com/office/drawing/2014/main" id="{52BDE74B-9F04-4FEC-BFF5-C20AF74E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32004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selected-ids">
            <a:extLst xmlns:a="http://schemas.openxmlformats.org/drawingml/2006/main">
              <a:ext uri="{FF2B5EF4-FFF2-40B4-BE49-F238E27FC236}">
                <a16:creationId xmlns:a16="http://schemas.microsoft.com/office/drawing/2014/main" id="{17FC01FB-0FB8-4055-AD80-0A8174AA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28194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or_replace_keyword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temp_keyword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force_keyword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column_list_two_aliases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view_options_none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query_simple_two_columns</a:t>
            </a:r>
          </a:p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check_default</a:t>
            </a:r>
          </a:p>
        </p:txBody>
      </p:sp>
      <p:sp>
        <p:nvSpPr>
          <p:cNvPr id="7" name="arrow-414-320">
            <a:extLst xmlns:a="http://schemas.openxmlformats.org/drawingml/2006/main">
              <a:ext uri="{FF2B5EF4-FFF2-40B4-BE49-F238E27FC236}">
                <a16:creationId xmlns:a16="http://schemas.microsoft.com/office/drawing/2014/main" id="{D8A5144F-27A6-480C-A084-8C6E36C7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48000"/>
            <a:ext cx="7048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ndered-sql-panel">
            <a:extLst xmlns:a="http://schemas.openxmlformats.org/drawingml/2006/main">
              <a:ext uri="{FF2B5EF4-FFF2-40B4-BE49-F238E27FC236}">
                <a16:creationId xmlns:a16="http://schemas.microsoft.com/office/drawing/2014/main" id="{6FC2B9EC-3C7A-47C7-8B74-F2D2F180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95450"/>
            <a:ext cx="67056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rendered-sql">
            <a:extLst xmlns:a="http://schemas.openxmlformats.org/drawingml/2006/main">
              <a:ext uri="{FF2B5EF4-FFF2-40B4-BE49-F238E27FC236}">
                <a16:creationId xmlns:a16="http://schemas.microsoft.com/office/drawing/2014/main" id="{3E321EA2-F33F-4ED8-A061-B3361E39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66900"/>
            <a:ext cx="63246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CREATE OR REPLACE TEMP FORCE VIEW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v_cv_basic_1184ef8e (c1, c2)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 SELECT col_1, col_2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t_view_source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WITH CHECK OPTION;</a:t>
            </a:r>
          </a:p>
        </p:txBody>
      </p:sp>
      <p:sp>
        <p:nvSpPr>
          <p:cNvPr id="10" name="case-id-label">
            <a:extLst xmlns:a="http://schemas.openxmlformats.org/drawingml/2006/main">
              <a:ext uri="{FF2B5EF4-FFF2-40B4-BE49-F238E27FC236}">
                <a16:creationId xmlns:a16="http://schemas.microsoft.com/office/drawing/2014/main" id="{35B83C5E-F3C2-4FA4-8292-F6E3184C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76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确定性 case_id</a:t>
            </a:r>
          </a:p>
        </p:txBody>
      </p:sp>
      <p:sp>
        <p:nvSpPr>
          <p:cNvPr id="11" name="case-id">
            <a:extLst xmlns:a="http://schemas.openxmlformats.org/drawingml/2006/main">
              <a:ext uri="{FF2B5EF4-FFF2-40B4-BE49-F238E27FC236}">
                <a16:creationId xmlns:a16="http://schemas.microsoft.com/office/drawing/2014/main" id="{39855956-517A-4AD1-B2A6-9AAEFC69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38650"/>
            <a:ext cx="670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3D8DFF"/>
                </a:solidFill>
                <a:latin typeface="Menlo"/>
                <a:ea typeface="Menlo"/>
                <a:cs typeface="Menlo"/>
              </a:rPr>
              <a:t>manifest_create_view_basic_positive_1184ef8e073a</a:t>
            </a:r>
          </a:p>
        </p:txBody>
      </p:sp>
      <p:sp>
        <p:nvSpPr>
          <p:cNvPr id="12" name="lifecycle-label">
            <a:extLst xmlns:a="http://schemas.openxmlformats.org/drawingml/2006/main">
              <a:ext uri="{FF2B5EF4-FFF2-40B4-BE49-F238E27FC236}">
                <a16:creationId xmlns:a16="http://schemas.microsoft.com/office/drawing/2014/main" id="{622BBA33-C096-4739-A4D9-34EB9DB4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10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完整 case 还包含</a:t>
            </a:r>
          </a:p>
        </p:txBody>
      </p:sp>
      <p:sp>
        <p:nvSpPr>
          <p:cNvPr id="13" name="lifecycle">
            <a:extLst xmlns:a="http://schemas.openxmlformats.org/drawingml/2006/main">
              <a:ext uri="{FF2B5EF4-FFF2-40B4-BE49-F238E27FC236}">
                <a16:creationId xmlns:a16="http://schemas.microsoft.com/office/drawing/2014/main" id="{17A981E8-FDB0-4538-9133-65D11AE5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391150"/>
            <a:ext cx="670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fixture setup  →  target SQL  →  fixture teardown  →  expected/oracle</a:t>
            </a:r>
          </a:p>
        </p:txBody>
      </p:sp>
    </p:spTree>
    <p:extLst>
      <p:ext uri="{BB962C8B-B14F-4D97-AF65-F5344CB8AC3E}">
        <p14:creationId xmlns:p14="http://schemas.microsoft.com/office/powerpoint/2010/main" val="5114331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16">
            <a:extLst xmlns:a="http://schemas.openxmlformats.org/drawingml/2006/main">
              <a:ext uri="{FF2B5EF4-FFF2-40B4-BE49-F238E27FC236}">
                <a16:creationId xmlns:a16="http://schemas.microsoft.com/office/drawing/2014/main" id="{D164AB02-FDCF-43A9-82C9-F2B19BEC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15 · 目标错误 Oracle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7F517CA5-6DD4-47C9-8002-DE599C2D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负向用例必须因目标规则失败，而不是“任意错误”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6A770258-6EBD-4E89-AF65-02866ECE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16">
            <a:extLst xmlns:a="http://schemas.openxmlformats.org/drawingml/2006/main">
              <a:ext uri="{FF2B5EF4-FFF2-40B4-BE49-F238E27FC236}">
                <a16:creationId xmlns:a16="http://schemas.microsoft.com/office/drawing/2014/main" id="{34E0043B-5BAE-4F84-BBC9-63429CF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" name="bad-negative">
            <a:extLst xmlns:a="http://schemas.openxmlformats.org/drawingml/2006/main">
              <a:ext uri="{FF2B5EF4-FFF2-40B4-BE49-F238E27FC236}">
                <a16:creationId xmlns:a16="http://schemas.microsoft.com/office/drawing/2014/main" id="{AADA3B9D-AE36-40F7-9928-96EC0C41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4762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bad-neg-title">
            <a:extLst xmlns:a="http://schemas.openxmlformats.org/drawingml/2006/main">
              <a:ext uri="{FF2B5EF4-FFF2-40B4-BE49-F238E27FC236}">
                <a16:creationId xmlns:a16="http://schemas.microsoft.com/office/drawing/2014/main" id="{DA0ABDD4-2B4C-43B3-97B5-9AF63C45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不可信的负向测试</a:t>
            </a:r>
          </a:p>
        </p:txBody>
      </p:sp>
      <p:sp>
        <p:nvSpPr>
          <p:cNvPr id="7" name="bad-neg-body">
            <a:extLst xmlns:a="http://schemas.openxmlformats.org/drawingml/2006/main">
              <a:ext uri="{FF2B5EF4-FFF2-40B4-BE49-F238E27FC236}">
                <a16:creationId xmlns:a16="http://schemas.microsoft.com/office/drawing/2014/main" id="{0C4840E2-437A-40AB-989E-5E9D5827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SQL 执行失败</a:t>
            </a:r>
          </a:p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=</a:t>
            </a:r>
          </a:p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用例通过</a:t>
            </a:r>
          </a:p>
        </p:txBody>
      </p:sp>
      <p:sp>
        <p:nvSpPr>
          <p:cNvPr id="8" name="bad-neg-note">
            <a:extLst xmlns:a="http://schemas.openxmlformats.org/drawingml/2006/main">
              <a:ext uri="{FF2B5EF4-FFF2-40B4-BE49-F238E27FC236}">
                <a16:creationId xmlns:a16="http://schemas.microsoft.com/office/drawing/2014/main" id="{BEBA1835-46F1-4E42-9211-E0016495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可能只是表不存在、列名错误、fixture 失败或语法拼接错误。</a:t>
            </a:r>
          </a:p>
        </p:txBody>
      </p:sp>
      <p:sp>
        <p:nvSpPr>
          <p:cNvPr id="9" name="good-negative">
            <a:extLst xmlns:a="http://schemas.openxmlformats.org/drawingml/2006/main">
              <a:ext uri="{FF2B5EF4-FFF2-40B4-BE49-F238E27FC236}">
                <a16:creationId xmlns:a16="http://schemas.microsoft.com/office/drawing/2014/main" id="{06974789-39DF-4F3F-BCE5-B0D25EE3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54673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good-neg-title">
            <a:extLst xmlns:a="http://schemas.openxmlformats.org/drawingml/2006/main">
              <a:ext uri="{FF2B5EF4-FFF2-40B4-BE49-F238E27FC236}">
                <a16:creationId xmlns:a16="http://schemas.microsoft.com/office/drawing/2014/main" id="{9C6BC728-1929-40FB-B5A0-7E2E5F1F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可信的目标失败</a:t>
            </a:r>
          </a:p>
        </p:txBody>
      </p:sp>
      <p:sp>
        <p:nvSpPr>
          <p:cNvPr id="11" name="good-neg-body">
            <a:extLst xmlns:a="http://schemas.openxmlformats.org/drawingml/2006/main">
              <a:ext uri="{FF2B5EF4-FFF2-40B4-BE49-F238E27FC236}">
                <a16:creationId xmlns:a16="http://schemas.microsoft.com/office/drawing/2014/main" id="{E23014A2-EF4B-4C3E-9898-DB6E9A6D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8958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violates_rule_refs</a:t>
            </a:r>
          </a:p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error_category</a:t>
            </a:r>
          </a:p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SQLSTATE / message regex</a:t>
            </a:r>
          </a:p>
        </p:txBody>
      </p:sp>
      <p:sp>
        <p:nvSpPr>
          <p:cNvPr id="12" name="good-neg-note">
            <a:extLst xmlns:a="http://schemas.openxmlformats.org/drawingml/2006/main">
              <a:ext uri="{FF2B5EF4-FFF2-40B4-BE49-F238E27FC236}">
                <a16:creationId xmlns:a16="http://schemas.microsoft.com/office/drawing/2014/main" id="{07CFCA52-24EF-49D4-8AD0-0F8F9C62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89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Fixture 必须先成功；除目标规则外，其他已知约束都必须满足。</a:t>
            </a:r>
          </a:p>
        </p:txBody>
      </p:sp>
      <p:sp>
        <p:nvSpPr>
          <p:cNvPr id="13" name="negative-example">
            <a:extLst xmlns:a="http://schemas.openxmlformats.org/drawingml/2006/main">
              <a:ext uri="{FF2B5EF4-FFF2-40B4-BE49-F238E27FC236}">
                <a16:creationId xmlns:a16="http://schemas.microsoft.com/office/drawing/2014/main" id="{D14C2E88-E1A0-4A82-94D2-2889DEAD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1078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示例：DISTINCT 查询 × WITH CHECK OPTION，应命中“不可更新视图”目标错误。</a:t>
            </a:r>
          </a:p>
        </p:txBody>
      </p:sp>
    </p:spTree>
    <p:extLst>
      <p:ext uri="{BB962C8B-B14F-4D97-AF65-F5344CB8AC3E}">
        <p14:creationId xmlns:p14="http://schemas.microsoft.com/office/powerpoint/2010/main" val="16907541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17">
            <a:extLst xmlns:a="http://schemas.openxmlformats.org/drawingml/2006/main">
              <a:ext uri="{FF2B5EF4-FFF2-40B4-BE49-F238E27FC236}">
                <a16:creationId xmlns:a16="http://schemas.microsoft.com/office/drawing/2014/main" id="{F39D4F14-7384-48CD-A4E3-FC238D08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16 · 生命周期与行为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2635F4AA-9317-4E6F-9C7F-C5F0187B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Scenario 补上单条 CREATE 无法证明的行为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0718E75D-0B5C-47B0-8896-EC363563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17">
            <a:extLst xmlns:a="http://schemas.openxmlformats.org/drawingml/2006/main">
              <a:ext uri="{FF2B5EF4-FFF2-40B4-BE49-F238E27FC236}">
                <a16:creationId xmlns:a16="http://schemas.microsoft.com/office/drawing/2014/main" id="{02E7D0AC-857F-477A-9435-05506172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" name="arrow-224-320">
            <a:extLst xmlns:a="http://schemas.openxmlformats.org/drawingml/2006/main">
              <a:ext uri="{FF2B5EF4-FFF2-40B4-BE49-F238E27FC236}">
                <a16:creationId xmlns:a16="http://schemas.microsoft.com/office/drawing/2014/main" id="{16F75F34-D974-4908-A47B-667C4F6C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4800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452-320">
            <a:extLst xmlns:a="http://schemas.openxmlformats.org/drawingml/2006/main">
              <a:ext uri="{FF2B5EF4-FFF2-40B4-BE49-F238E27FC236}">
                <a16:creationId xmlns:a16="http://schemas.microsoft.com/office/drawing/2014/main" id="{D3FDAEE6-83AD-45F0-A26F-0C923174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680-320">
            <a:extLst xmlns:a="http://schemas.openxmlformats.org/drawingml/2006/main">
              <a:ext uri="{FF2B5EF4-FFF2-40B4-BE49-F238E27FC236}">
                <a16:creationId xmlns:a16="http://schemas.microsoft.com/office/drawing/2014/main" id="{4CAAAFD9-1FD1-4E17-9B1F-DE1CAD84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-908-320">
            <a:extLst xmlns:a="http://schemas.openxmlformats.org/drawingml/2006/main">
              <a:ext uri="{FF2B5EF4-FFF2-40B4-BE49-F238E27FC236}">
                <a16:creationId xmlns:a16="http://schemas.microsoft.com/office/drawing/2014/main" id="{30033E9C-BF7F-41A6-9E40-6153163C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enario-step-0">
            <a:extLst xmlns:a="http://schemas.openxmlformats.org/drawingml/2006/main">
              <a:ext uri="{FF2B5EF4-FFF2-40B4-BE49-F238E27FC236}">
                <a16:creationId xmlns:a16="http://schemas.microsoft.com/office/drawing/2014/main" id="{906F0DB2-330C-4372-B756-9A388A15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52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cenario-h-0">
            <a:extLst xmlns:a="http://schemas.openxmlformats.org/drawingml/2006/main">
              <a:ext uri="{FF2B5EF4-FFF2-40B4-BE49-F238E27FC236}">
                <a16:creationId xmlns:a16="http://schemas.microsoft.com/office/drawing/2014/main" id="{C2819781-961F-457F-AEB8-06531DA8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依赖缺失</a:t>
            </a:r>
          </a:p>
        </p:txBody>
      </p:sp>
      <p:sp>
        <p:nvSpPr>
          <p:cNvPr id="11" name="scenario-b-0">
            <a:extLst xmlns:a="http://schemas.openxmlformats.org/drawingml/2006/main">
              <a:ext uri="{FF2B5EF4-FFF2-40B4-BE49-F238E27FC236}">
                <a16:creationId xmlns:a16="http://schemas.microsoft.com/office/drawing/2014/main" id="{BBFE0586-790D-497C-A811-D10915F0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确认 t_cv_missing 不存在</a:t>
            </a:r>
          </a:p>
        </p:txBody>
      </p:sp>
      <p:sp>
        <p:nvSpPr>
          <p:cNvPr id="12" name="scenario-step-1">
            <a:extLst xmlns:a="http://schemas.openxmlformats.org/drawingml/2006/main">
              <a:ext uri="{FF2B5EF4-FFF2-40B4-BE49-F238E27FC236}">
                <a16:creationId xmlns:a16="http://schemas.microsoft.com/office/drawing/2014/main" id="{661135D0-14CE-456D-A076-F6232668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81250"/>
            <a:ext cx="152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cenario-h-1">
            <a:extLst xmlns:a="http://schemas.openxmlformats.org/drawingml/2006/main">
              <a:ext uri="{FF2B5EF4-FFF2-40B4-BE49-F238E27FC236}">
                <a16:creationId xmlns:a16="http://schemas.microsoft.com/office/drawing/2014/main" id="{647663E6-7C8D-4E06-954B-4562C048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9080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FORCE 创建</a:t>
            </a:r>
          </a:p>
        </p:txBody>
      </p:sp>
      <p:sp>
        <p:nvSpPr>
          <p:cNvPr id="14" name="scenario-b-1">
            <a:extLst xmlns:a="http://schemas.openxmlformats.org/drawingml/2006/main">
              <a:ext uri="{FF2B5EF4-FFF2-40B4-BE49-F238E27FC236}">
                <a16:creationId xmlns:a16="http://schemas.microsoft.com/office/drawing/2014/main" id="{ECCA3225-6D42-46FA-B295-9BAEEC77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9090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视图入库并产生编译告警</a:t>
            </a:r>
          </a:p>
        </p:txBody>
      </p:sp>
      <p:sp>
        <p:nvSpPr>
          <p:cNvPr id="15" name="scenario-step-2">
            <a:extLst xmlns:a="http://schemas.openxmlformats.org/drawingml/2006/main">
              <a:ext uri="{FF2B5EF4-FFF2-40B4-BE49-F238E27FC236}">
                <a16:creationId xmlns:a16="http://schemas.microsoft.com/office/drawing/2014/main" id="{9442F512-49CB-400E-9273-FBB1CBFD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152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cenario-h-2">
            <a:extLst xmlns:a="http://schemas.openxmlformats.org/drawingml/2006/main">
              <a:ext uri="{FF2B5EF4-FFF2-40B4-BE49-F238E27FC236}">
                <a16:creationId xmlns:a16="http://schemas.microsoft.com/office/drawing/2014/main" id="{15C1A0B2-CC66-41CD-8AF0-361571D9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9080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查无效状态</a:t>
            </a:r>
          </a:p>
        </p:txBody>
      </p:sp>
      <p:sp>
        <p:nvSpPr>
          <p:cNvPr id="17" name="scenario-b-2">
            <a:extLst xmlns:a="http://schemas.openxmlformats.org/drawingml/2006/main">
              <a:ext uri="{FF2B5EF4-FFF2-40B4-BE49-F238E27FC236}">
                <a16:creationId xmlns:a16="http://schemas.microsoft.com/office/drawing/2014/main" id="{AA970A02-CB1A-4C7C-8E19-B4614FD6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9090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metadata: valid = false</a:t>
            </a:r>
          </a:p>
        </p:txBody>
      </p:sp>
      <p:sp>
        <p:nvSpPr>
          <p:cNvPr id="18" name="scenario-step-3">
            <a:extLst xmlns:a="http://schemas.openxmlformats.org/drawingml/2006/main">
              <a:ext uri="{FF2B5EF4-FFF2-40B4-BE49-F238E27FC236}">
                <a16:creationId xmlns:a16="http://schemas.microsoft.com/office/drawing/2014/main" id="{31C94E4F-FE58-4721-A716-0EA048E3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152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cenario-h-3">
            <a:extLst xmlns:a="http://schemas.openxmlformats.org/drawingml/2006/main">
              <a:ext uri="{FF2B5EF4-FFF2-40B4-BE49-F238E27FC236}">
                <a16:creationId xmlns:a16="http://schemas.microsoft.com/office/drawing/2014/main" id="{76BE48EC-A1FE-417A-B2CF-CDC914FA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9080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补依赖并编译</a:t>
            </a:r>
          </a:p>
        </p:txBody>
      </p:sp>
      <p:sp>
        <p:nvSpPr>
          <p:cNvPr id="20" name="scenario-b-3">
            <a:extLst xmlns:a="http://schemas.openxmlformats.org/drawingml/2006/main">
              <a:ext uri="{FF2B5EF4-FFF2-40B4-BE49-F238E27FC236}">
                <a16:creationId xmlns:a16="http://schemas.microsoft.com/office/drawing/2014/main" id="{FA7D5D5B-5F20-4EC6-A210-1F966628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CREATE TABLE + ALTER VIEW COMPILE</a:t>
            </a:r>
          </a:p>
        </p:txBody>
      </p:sp>
      <p:sp>
        <p:nvSpPr>
          <p:cNvPr id="21" name="scenario-step-4">
            <a:extLst xmlns:a="http://schemas.openxmlformats.org/drawingml/2006/main">
              <a:ext uri="{FF2B5EF4-FFF2-40B4-BE49-F238E27FC236}">
                <a16:creationId xmlns:a16="http://schemas.microsoft.com/office/drawing/2014/main" id="{43DB97C9-D65F-4D69-964E-B0BD3994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152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scenario-h-4">
            <a:extLst xmlns:a="http://schemas.openxmlformats.org/drawingml/2006/main">
              <a:ext uri="{FF2B5EF4-FFF2-40B4-BE49-F238E27FC236}">
                <a16:creationId xmlns:a16="http://schemas.microsoft.com/office/drawing/2014/main" id="{0D940EE6-3BA9-440C-9F53-42D28ABE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9080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查有效状态</a:t>
            </a:r>
          </a:p>
        </p:txBody>
      </p:sp>
      <p:sp>
        <p:nvSpPr>
          <p:cNvPr id="23" name="scenario-b-4">
            <a:extLst xmlns:a="http://schemas.openxmlformats.org/drawingml/2006/main">
              <a:ext uri="{FF2B5EF4-FFF2-40B4-BE49-F238E27FC236}">
                <a16:creationId xmlns:a16="http://schemas.microsoft.com/office/drawing/2014/main" id="{C77A4F13-859C-4898-B7E6-6ED2CAC9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9090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metadata: valid = true</a:t>
            </a:r>
          </a:p>
        </p:txBody>
      </p:sp>
      <p:sp>
        <p:nvSpPr>
          <p:cNvPr id="24" name="scenario-other">
            <a:extLst xmlns:a="http://schemas.openxmlformats.org/drawingml/2006/main">
              <a:ext uri="{FF2B5EF4-FFF2-40B4-BE49-F238E27FC236}">
                <a16:creationId xmlns:a16="http://schemas.microsoft.com/office/drawing/2014/main" id="{A94464F8-7435-42AB-BEF3-C65346E4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同类场景：OR REPLACE 真替换 · TEMP 跨会话消失 · CHECK 拒绝不可见行 · READ ONLY 拒绝 DML · 权限边界</a:t>
            </a:r>
          </a:p>
        </p:txBody>
      </p:sp>
    </p:spTree>
    <p:extLst>
      <p:ext uri="{BB962C8B-B14F-4D97-AF65-F5344CB8AC3E}">
        <p14:creationId xmlns:p14="http://schemas.microsoft.com/office/powerpoint/2010/main" val="599995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18">
            <a:extLst xmlns:a="http://schemas.openxmlformats.org/drawingml/2006/main">
              <a:ext uri="{FF2B5EF4-FFF2-40B4-BE49-F238E27FC236}">
                <a16:creationId xmlns:a16="http://schemas.microsoft.com/office/drawing/2014/main" id="{EAA684F3-DF04-4D53-B479-09FDFC55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17 · 当前结论与下一步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89387785-6ED2-4864-A6B9-778E5E89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静态生成已成体系；完整行为闭环还差三道门</a:t>
            </a:r>
          </a:p>
        </p:txBody>
      </p:sp>
      <p:sp>
        <p:nvSpPr>
          <p:cNvPr id="3" name="rule-48-136">
            <a:extLst xmlns:a="http://schemas.openxmlformats.org/drawingml/2006/main">
              <a:ext uri="{FF2B5EF4-FFF2-40B4-BE49-F238E27FC236}">
                <a16:creationId xmlns:a16="http://schemas.microsoft.com/office/drawing/2014/main" id="{95B2C8F2-3B98-41D7-9376-1C8B05C3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18">
            <a:extLst xmlns:a="http://schemas.openxmlformats.org/drawingml/2006/main">
              <a:ext uri="{FF2B5EF4-FFF2-40B4-BE49-F238E27FC236}">
                <a16:creationId xmlns:a16="http://schemas.microsoft.com/office/drawing/2014/main" id="{25AE743E-D6DC-4131-803C-CD9C71CD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5" name="close-num-0">
            <a:extLst xmlns:a="http://schemas.openxmlformats.org/drawingml/2006/main">
              <a:ext uri="{FF2B5EF4-FFF2-40B4-BE49-F238E27FC236}">
                <a16:creationId xmlns:a16="http://schemas.microsoft.com/office/drawing/2014/main" id="{F2EAF686-CAFB-4870-BA7B-96764DCC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140</a:t>
            </a:r>
          </a:p>
        </p:txBody>
      </p:sp>
      <p:sp>
        <p:nvSpPr>
          <p:cNvPr id="6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4A1FFE7B-366C-489C-937E-786E5676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52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静态候选 SQL</a:t>
            </a:r>
          </a:p>
        </p:txBody>
      </p:sp>
      <p:sp>
        <p:nvSpPr>
          <p:cNvPr id="7" name="rule-66-252">
            <a:extLst xmlns:a="http://schemas.openxmlformats.org/drawingml/2006/main">
              <a:ext uri="{FF2B5EF4-FFF2-40B4-BE49-F238E27FC236}">
                <a16:creationId xmlns:a16="http://schemas.microsoft.com/office/drawing/2014/main" id="{4B04F7A8-2661-43BD-9DD2-1C8862DC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468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lose-num-1">
            <a:extLst xmlns:a="http://schemas.openxmlformats.org/drawingml/2006/main">
              <a:ext uri="{FF2B5EF4-FFF2-40B4-BE49-F238E27FC236}">
                <a16:creationId xmlns:a16="http://schemas.microsoft.com/office/drawing/2014/main" id="{8E12D36C-BD36-46CD-880D-AC821887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7 / 7</a:t>
            </a:r>
          </a:p>
        </p:txBody>
      </p:sp>
      <p:sp>
        <p:nvSpPr>
          <p:cNvPr id="9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D1FA645F-BA2E-418E-864F-112D84DD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43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Manifest Pairwise 完整</a:t>
            </a:r>
          </a:p>
        </p:txBody>
      </p:sp>
      <p:sp>
        <p:nvSpPr>
          <p:cNvPr id="10" name="rule-66-356">
            <a:extLst xmlns:a="http://schemas.openxmlformats.org/drawingml/2006/main">
              <a:ext uri="{FF2B5EF4-FFF2-40B4-BE49-F238E27FC236}">
                <a16:creationId xmlns:a16="http://schemas.microsoft.com/office/drawing/2014/main" id="{4F0E2908-53C1-421A-9656-A4FF6C43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468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close-num-2">
            <a:extLst xmlns:a="http://schemas.openxmlformats.org/drawingml/2006/main">
              <a:ext uri="{FF2B5EF4-FFF2-40B4-BE49-F238E27FC236}">
                <a16:creationId xmlns:a16="http://schemas.microsoft.com/office/drawing/2014/main" id="{9CF03861-63F8-49A5-99E0-387AB915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43 / 43</a:t>
            </a:r>
          </a:p>
        </p:txBody>
      </p:sp>
      <p:sp>
        <p:nvSpPr>
          <p:cNvPr id="12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457B96EE-6228-4589-B600-FB6307FD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33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valid value 已进入用例</a:t>
            </a:r>
          </a:p>
        </p:txBody>
      </p:sp>
      <p:sp>
        <p:nvSpPr>
          <p:cNvPr id="13" name="rule-66-460">
            <a:extLst xmlns:a="http://schemas.openxmlformats.org/drawingml/2006/main">
              <a:ext uri="{FF2B5EF4-FFF2-40B4-BE49-F238E27FC236}">
                <a16:creationId xmlns:a16="http://schemas.microsoft.com/office/drawing/2014/main" id="{40D344C4-1ED2-4DBE-A52D-20E0C655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468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lose-num-3">
            <a:extLst xmlns:a="http://schemas.openxmlformats.org/drawingml/2006/main">
              <a:ext uri="{FF2B5EF4-FFF2-40B4-BE49-F238E27FC236}">
                <a16:creationId xmlns:a16="http://schemas.microsoft.com/office/drawing/2014/main" id="{18D1A2FF-45FA-4120-8221-8736203C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4 / 4</a:t>
            </a:r>
          </a:p>
        </p:txBody>
      </p:sp>
      <p:sp>
        <p:nvSpPr>
          <p:cNvPr id="15" name="close-label-3">
            <a:extLst xmlns:a="http://schemas.openxmlformats.org/drawingml/2006/main">
              <a:ext uri="{FF2B5EF4-FFF2-40B4-BE49-F238E27FC236}">
                <a16:creationId xmlns:a16="http://schemas.microsoft.com/office/drawing/2014/main" id="{445A5555-2E36-435A-A599-3B75AF98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244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硬规则有正负证据</a:t>
            </a:r>
          </a:p>
        </p:txBody>
      </p:sp>
      <p:sp>
        <p:nvSpPr>
          <p:cNvPr id="16" name="close-divider">
            <a:extLst xmlns:a="http://schemas.openxmlformats.org/drawingml/2006/main">
              <a:ext uri="{FF2B5EF4-FFF2-40B4-BE49-F238E27FC236}">
                <a16:creationId xmlns:a16="http://schemas.microsoft.com/office/drawing/2014/main" id="{148BF76F-3A10-4439-B86E-9B411115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190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aps-title">
            <a:extLst xmlns:a="http://schemas.openxmlformats.org/drawingml/2006/main">
              <a:ext uri="{FF2B5EF4-FFF2-40B4-BE49-F238E27FC236}">
                <a16:creationId xmlns:a16="http://schemas.microsoft.com/office/drawing/2014/main" id="{8130BBE5-0B60-4F1F-BE6E-71C6EAD2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仍未闭环</a:t>
            </a:r>
          </a:p>
        </p:txBody>
      </p:sp>
      <p:sp>
        <p:nvSpPr>
          <p:cNvPr id="18" name="gaps">
            <a:extLst xmlns:a="http://schemas.openxmlformats.org/drawingml/2006/main">
              <a:ext uri="{FF2B5EF4-FFF2-40B4-BE49-F238E27FC236}">
                <a16:creationId xmlns:a16="http://schemas.microsoft.com/office/drawing/2014/main" id="{395D935C-200D-4F44-941D-96E71D23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050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 / 64  source unit 原子性已审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10 个 open question 待实测裁决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10 个 planned scenario 待真实执行</a:t>
            </a:r>
          </a:p>
        </p:txBody>
      </p:sp>
      <p:sp>
        <p:nvSpPr>
          <p:cNvPr id="19" name="next-title">
            <a:extLst xmlns:a="http://schemas.openxmlformats.org/drawingml/2006/main">
              <a:ext uri="{FF2B5EF4-FFF2-40B4-BE49-F238E27FC236}">
                <a16:creationId xmlns:a16="http://schemas.microsoft.com/office/drawing/2014/main" id="{E7BF3DFD-6515-4F69-B1CC-70D08037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86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下一步顺序</a:t>
            </a:r>
          </a:p>
        </p:txBody>
      </p:sp>
      <p:sp>
        <p:nvSpPr>
          <p:cNvPr id="20" name="next-steps">
            <a:extLst xmlns:a="http://schemas.openxmlformats.org/drawingml/2006/main">
              <a:ext uri="{FF2B5EF4-FFF2-40B4-BE49-F238E27FC236}">
                <a16:creationId xmlns:a16="http://schemas.microsoft.com/office/drawing/2014/main" id="{5DB3B16A-799A-4D45-B58B-C82A28AF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6250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① 完成 atomicity 审计</a:t>
            </a:r>
          </a:p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② 用最小探针解决 open question</a:t>
            </a:r>
          </a:p>
          <a:p xmlns:a="http://schemas.openxmlformats.org/drawingml/2006/main">
            <a:pPr algn="l">
              <a:def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36E"/>
                </a:solidFill>
                <a:latin typeface="PingFang SC"/>
                <a:ea typeface="PingFang SC"/>
                <a:cs typeface="PingFang SC"/>
              </a:rPr>
              <a:t>③ 接入 GaussDB 执行 scenario，并校准 SQLSTATE / metadata oracle</a:t>
            </a:r>
          </a:p>
        </p:txBody>
      </p:sp>
      <p:sp>
        <p:nvSpPr>
          <p:cNvPr id="21" name="memory-line">
            <a:extLst xmlns:a="http://schemas.openxmlformats.org/drawingml/2006/main">
              <a:ext uri="{FF2B5EF4-FFF2-40B4-BE49-F238E27FC236}">
                <a16:creationId xmlns:a16="http://schemas.microsoft.com/office/drawing/2014/main" id="{E3259541-6C3F-4F90-B0D3-10E86D80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记住：source 证明没漏，factor 负责建模，manifest 负责抽样，scenario 负责证明行为。</a:t>
            </a:r>
          </a:p>
        </p:txBody>
      </p:sp>
    </p:spTree>
    <p:extLst>
      <p:ext uri="{BB962C8B-B14F-4D97-AF65-F5344CB8AC3E}">
        <p14:creationId xmlns:p14="http://schemas.microsoft.com/office/powerpoint/2010/main" val="352344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2026-08-31T09:17:41.8210000Z</dcterms:created>
  <dcterms:modified xsi:type="dcterms:W3CDTF">2026-08-31T09:17:41.8210000Z</dcterms:modified>
</coreProperties>
</file>