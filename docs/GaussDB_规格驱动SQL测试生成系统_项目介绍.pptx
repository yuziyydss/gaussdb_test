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4be13b08004d94" /><Relationship Type="http://schemas.openxmlformats.org/officeDocument/2006/relationships/extended-properties" Target="/docProps/app.xml" Id="R0d2539d0ebce4328" /><Relationship Type="http://schemas.openxmlformats.org/officeDocument/2006/relationships/officeDocument" Target="/ppt/presentation.xml" Id="R4b85c82910be42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a116454fda4bf8"/>
  </p:sldMasterIdLst>
  <p:notesMasterIdLst>
    <p:notesMasterId xmlns:r="http://schemas.openxmlformats.org/officeDocument/2006/relationships" r:id="Rbdee253170904b16"/>
  </p:notesMasterIdLst>
  <p:sldIdLst>
    <p:sldId xmlns:r="http://schemas.openxmlformats.org/officeDocument/2006/relationships" id="256" r:id="R5eb9ad2e7271416e"/>
    <p:sldId xmlns:r="http://schemas.openxmlformats.org/officeDocument/2006/relationships" id="257" r:id="R564ce0077df54146"/>
    <p:sldId xmlns:r="http://schemas.openxmlformats.org/officeDocument/2006/relationships" id="258" r:id="Rd54241fb9563461e"/>
    <p:sldId xmlns:r="http://schemas.openxmlformats.org/officeDocument/2006/relationships" id="259" r:id="Rf033242411764eea"/>
    <p:sldId xmlns:r="http://schemas.openxmlformats.org/officeDocument/2006/relationships" id="260" r:id="R12210b44d21f483f"/>
    <p:sldId xmlns:r="http://schemas.openxmlformats.org/officeDocument/2006/relationships" id="261" r:id="Rde0fd511b61a4162"/>
    <p:sldId xmlns:r="http://schemas.openxmlformats.org/officeDocument/2006/relationships" id="262" r:id="R5c32a13717814dd4"/>
    <p:sldId xmlns:r="http://schemas.openxmlformats.org/officeDocument/2006/relationships" id="263" r:id="R39ae0af370854d57"/>
    <p:sldId xmlns:r="http://schemas.openxmlformats.org/officeDocument/2006/relationships" id="264" r:id="R805a784ccaf94d98"/>
    <p:sldId xmlns:r="http://schemas.openxmlformats.org/officeDocument/2006/relationships" id="265" r:id="Rdc005c85ef0d42a9"/>
    <p:sldId xmlns:r="http://schemas.openxmlformats.org/officeDocument/2006/relationships" id="266" r:id="Rc3b00b8c13994d74"/>
    <p:sldId xmlns:r="http://schemas.openxmlformats.org/officeDocument/2006/relationships" id="267" r:id="Rba49e15c77024aa8"/>
    <p:sldId xmlns:r="http://schemas.openxmlformats.org/officeDocument/2006/relationships" id="268" r:id="Rd8bf02ae2acf4051"/>
    <p:sldId xmlns:r="http://schemas.openxmlformats.org/officeDocument/2006/relationships" id="269" r:id="Rd7df4b60fe3a49e3"/>
    <p:sldId xmlns:r="http://schemas.openxmlformats.org/officeDocument/2006/relationships" id="270" r:id="Rad7c6f34497742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89a5b27e2245f0" /><Relationship Type="http://schemas.openxmlformats.org/officeDocument/2006/relationships/slideMaster" Target="/ppt/slideMasters/slideMaster1.xml" Id="R20a116454fda4bf8" /><Relationship Type="http://schemas.openxmlformats.org/officeDocument/2006/relationships/notesMaster" Target="/ppt/notesMasters/notesMaster1.xml" Id="Rbdee253170904b16" /><Relationship Type="http://schemas.openxmlformats.org/officeDocument/2006/relationships/presProps" Target="/ppt/presProps.xml" Id="Rdaa129e2018742ec" /><Relationship Type="http://schemas.openxmlformats.org/officeDocument/2006/relationships/tableStyles" Target="/ppt/tableStyles.xml" Id="R5c3f7a0258124ea9" /><Relationship Type="http://schemas.openxmlformats.org/officeDocument/2006/relationships/slide" Target="/ppt/slides/slide1.xml" Id="R5eb9ad2e7271416e" /><Relationship Type="http://schemas.openxmlformats.org/officeDocument/2006/relationships/slide" Target="/ppt/slides/slide2.xml" Id="R564ce0077df54146" /><Relationship Type="http://schemas.openxmlformats.org/officeDocument/2006/relationships/slide" Target="/ppt/slides/slide3.xml" Id="Rd54241fb9563461e" /><Relationship Type="http://schemas.openxmlformats.org/officeDocument/2006/relationships/slide" Target="/ppt/slides/slide4.xml" Id="Rf033242411764eea" /><Relationship Type="http://schemas.openxmlformats.org/officeDocument/2006/relationships/slide" Target="/ppt/slides/slide5.xml" Id="R12210b44d21f483f" /><Relationship Type="http://schemas.openxmlformats.org/officeDocument/2006/relationships/slide" Target="/ppt/slides/slide6.xml" Id="Rde0fd511b61a4162" /><Relationship Type="http://schemas.openxmlformats.org/officeDocument/2006/relationships/slide" Target="/ppt/slides/slide7.xml" Id="R5c32a13717814dd4" /><Relationship Type="http://schemas.openxmlformats.org/officeDocument/2006/relationships/slide" Target="/ppt/slides/slide8.xml" Id="R39ae0af370854d57" /><Relationship Type="http://schemas.openxmlformats.org/officeDocument/2006/relationships/slide" Target="/ppt/slides/slide9.xml" Id="R805a784ccaf94d98" /><Relationship Type="http://schemas.openxmlformats.org/officeDocument/2006/relationships/slide" Target="/ppt/slides/slide10.xml" Id="Rdc005c85ef0d42a9" /><Relationship Type="http://schemas.openxmlformats.org/officeDocument/2006/relationships/slide" Target="/ppt/slides/slide11.xml" Id="Rc3b00b8c13994d74" /><Relationship Type="http://schemas.openxmlformats.org/officeDocument/2006/relationships/slide" Target="/ppt/slides/slide12.xml" Id="Rba49e15c77024aa8" /><Relationship Type="http://schemas.openxmlformats.org/officeDocument/2006/relationships/slide" Target="/ppt/slides/slide13.xml" Id="Rd8bf02ae2acf4051" /><Relationship Type="http://schemas.openxmlformats.org/officeDocument/2006/relationships/slide" Target="/ppt/slides/slide14.xml" Id="Rd7df4b60fe3a49e3" /><Relationship Type="http://schemas.openxmlformats.org/officeDocument/2006/relationships/slide" Target="/ppt/slides/slide15.xml" Id="Rad7c6f34497742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2d65f2109f40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a523484eaa4740" /><Relationship Type="http://schemas.openxmlformats.org/officeDocument/2006/relationships/notesMaster" Target="/ppt/notesMasters/notesMaster1.xml" Id="R32c199346dc54c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faef62bf2d4e0f" /><Relationship Type="http://schemas.openxmlformats.org/officeDocument/2006/relationships/notesMaster" Target="/ppt/notesMasters/notesMaster1.xml" Id="R63b952fba6384d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9fee0da8e94e13" /><Relationship Type="http://schemas.openxmlformats.org/officeDocument/2006/relationships/notesMaster" Target="/ppt/notesMasters/notesMaster1.xml" Id="R3c18d57c6e704e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e265fb856b43ee" /><Relationship Type="http://schemas.openxmlformats.org/officeDocument/2006/relationships/notesMaster" Target="/ppt/notesMasters/notesMaster1.xml" Id="Rbc35b997c8ed46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db303cfba348a8" /><Relationship Type="http://schemas.openxmlformats.org/officeDocument/2006/relationships/notesMaster" Target="/ppt/notesMasters/notesMaster1.xml" Id="Rd905f3067b9f47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056829230e4ec1" /><Relationship Type="http://schemas.openxmlformats.org/officeDocument/2006/relationships/notesMaster" Target="/ppt/notesMasters/notesMaster1.xml" Id="R48839f368fa145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9fbfa3f1fb4f20" /><Relationship Type="http://schemas.openxmlformats.org/officeDocument/2006/relationships/notesMaster" Target="/ppt/notesMasters/notesMaster1.xml" Id="R1159b31ad4e34b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29bec077ad4ad5" /><Relationship Type="http://schemas.openxmlformats.org/officeDocument/2006/relationships/notesMaster" Target="/ppt/notesMasters/notesMaster1.xml" Id="R3875a4e2d1db43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429cf174ce4183" /><Relationship Type="http://schemas.openxmlformats.org/officeDocument/2006/relationships/notesMaster" Target="/ppt/notesMasters/notesMaster1.xml" Id="Rf4065a76adc441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dab66535744866" /><Relationship Type="http://schemas.openxmlformats.org/officeDocument/2006/relationships/notesMaster" Target="/ppt/notesMasters/notesMaster1.xml" Id="R949770cac64b4c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1ccb45da0741ec" /><Relationship Type="http://schemas.openxmlformats.org/officeDocument/2006/relationships/notesMaster" Target="/ppt/notesMasters/notesMaster1.xml" Id="R6c740c790bd949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987b38cdaf4c47" /><Relationship Type="http://schemas.openxmlformats.org/officeDocument/2006/relationships/notesMaster" Target="/ppt/notesMasters/notesMaster1.xml" Id="R35f14d0c60b54d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bf199dc22648e4" /><Relationship Type="http://schemas.openxmlformats.org/officeDocument/2006/relationships/notesMaster" Target="/ppt/notesMasters/notesMaster1.xml" Id="R5c7d3e359d2947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e991140ff34f07" /><Relationship Type="http://schemas.openxmlformats.org/officeDocument/2006/relationships/notesMaster" Target="/ppt/notesMasters/notesMaster1.xml" Id="R3286811ba3e246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8f7331bffa4996" /><Relationship Type="http://schemas.openxmlformats.org/officeDocument/2006/relationships/notesMaster" Target="/ppt/notesMasters/notesMaster1.xml" Id="R622f2b663a1040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开场：项目并非简单拼接 SQL，而是建立从产品文档到测试结论的可审计证据链。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/Users/wangyangbo/PycharmProjects/gaussdb_test/docs/ARCHITECTURE.md</a:t>
            </a:r>
          </a:p>
          <a:p xmlns:a="http://schemas.openxmlformats.org/drawingml/2006/main">
            <a:r>
              <a:t>- /Users/wangyangbo/PycharmProjects/gaussdb_test/docs/FACTOR_PACKAGE_SCHEMA_V1.md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三条主线分别解决遗漏、错误组合和虚假通过。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/Users/wangyangbo/PycharmProjects/gaussdb_test/docs/DOC2SPEC_EXTRACTION_RULES_V1.md</a:t>
            </a:r>
          </a:p>
          <a:p xmlns:a="http://schemas.openxmlformats.org/drawingml/2006/main">
            <a:r>
              <a:t>- /Users/wangyangbo/PycharmProjects/gaussdb_test/docs/ARCHITECTURE.md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背景约束决定了方案必须可整体搬入内网，并允许替换执行它的 AI，而不改变方法和验收标准。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/Users/wangyangbo/PycharmProjects/gaussdb_test/docs/INTRANET_AI_BATCH_EXTRACTION.md</a:t>
            </a:r>
          </a:p>
          <a:p xmlns:a="http://schemas.openxmlformats.org/drawingml/2006/main">
            <a:r>
              <a:t>- 用户提供的项目背景与内部文档目录信息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需求不仅是抽取和生成，还包括证据、前置环境与验证闭环；同时明确静态产物和已验证用例的边界。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/Users/wangyangbo/PycharmProjects/gaussdb_test/docs/FACTOR_PACKAGE_SCHEMA_V1.md</a:t>
            </a:r>
          </a:p>
          <a:p xmlns:a="http://schemas.openxmlformats.org/drawingml/2006/main">
            <a:r>
              <a:t>- /Users/wangyangbo/PycharmProjects/gaussdb_test/docs/ROADMAP.md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这是一个类似编译器的流水线：证据先被规范化，然后生成候选，再通过运行结果形成验证证据。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/Users/wangyangbo/PycharmProjects/gaussdb_test/docs/ARCHITECTURE.md</a:t>
            </a:r>
          </a:p>
          <a:p xmlns:a="http://schemas.openxmlformats.org/drawingml/2006/main">
            <a:r>
              <a:t>- /Users/wangyangbo/PycharmProjects/gaussdb_test/docs/DOC2SPEC_EXTRACTION_RULES_V1.md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七类文件看似多，实质是在拆开证据、语法、选择、环境、前置条件和行为，避免规则重复漂移。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/Users/wangyangbo/PycharmProjects/gaussdb_test/docs/FACTOR_PACKAGE_SCHEMA_V1.md</a:t>
            </a:r>
          </a:p>
          <a:p xmlns:a="http://schemas.openxmlformats.org/drawingml/2006/main">
            <a:r>
              <a:t>- /Users/wangyangbo/PycharmProjects/gaussdb_test/docs/SPEC_SPECIFICATION_GUIDE.md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示例强调：因子不是 SQL 模板，而是从事实到组合、环境和 Oracle 的建模容器。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/Users/wangyangbo/PycharmProjects/gaussdb_test/specs/ddl/create_view/create_view.factor.yaml</a:t>
            </a:r>
          </a:p>
          <a:p xmlns:a="http://schemas.openxmlformats.org/drawingml/2006/main">
            <a:r>
              <a:t>- /Users/wangyangbo/PycharmProjects/gaussdb_test/specs/ddl/create_view/create_view.syntax.yaml</a:t>
            </a:r>
          </a:p>
          <a:p xmlns:a="http://schemas.openxmlformats.org/drawingml/2006/main">
            <a:r>
              <a:t>- /Users/wangyangbo/PycharmProjects/gaussdb_test/specs/ddl/create_view/manifests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Pairwise 的价值不是减少数量本身，而是在明确约束后，用较少用例覆盖所有可行参数对。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/Users/wangyangbo/PycharmProjects/gaussdb_test/core/combinator.py</a:t>
            </a:r>
          </a:p>
          <a:p xmlns:a="http://schemas.openxmlformats.org/drawingml/2006/main">
            <a:r>
              <a:t>- /Users/wangyangbo/PycharmProjects/gaussdb_test/core/constraint_solver.py</a:t>
            </a:r>
          </a:p>
          <a:p xmlns:a="http://schemas.openxmlformats.org/drawingml/2006/main">
            <a:r>
              <a:t>- 用户提供的全量生成验证与组合空间统计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五层门逐步增强置信度；最上层才回答‘数据库行为是否符合文档’，下层只是必要条件。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/Users/wangyangbo/PycharmProjects/gaussdb_test/docs/ARCHITECTURE.md</a:t>
            </a:r>
          </a:p>
          <a:p xmlns:a="http://schemas.openxmlformats.org/drawingml/2006/main">
            <a:r>
              <a:t>- /Users/wangyangbo/PycharmProjects/gaussdb_test/scripts/golden_regression_runner.py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这些数字说明系统已具备批量建模能力，但不能把自动生成的产物数量等同于全部可执行、全部验证。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用户提供的产物对齐与审计总结（2026-09-02）</a:t>
            </a:r>
          </a:p>
          <a:p xmlns:a="http://schemas.openxmlformats.org/drawingml/2006/main">
            <a:r>
              <a:t>- /Users/wangyangbo/PycharmProjects/gaussdb_test/generated/audit/factor_classification_final.json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成熟度分层避免把结构不完整的原始 BNF 当作有效生成模板，也为资源投入提供清晰优先级。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226 因子分类总结（2026-09-02）</a:t>
            </a:r>
          </a:p>
          <a:p xmlns:a="http://schemas.openxmlformats.org/drawingml/2006/main">
            <a:r>
              <a:t>- /Users/wangyangbo/PycharmProjects/gaussdb_test/reports/raw_bnf_pilot_assessment.json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黄金回归说明核心流程可复现；Slot 第一批说明批量修复方法有效。但这仍不是全部 226 个因子均已验证。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/Users/wangyangbo/PycharmProjects/gaussdb_test/reports/golden_verification_report.json</a:t>
            </a:r>
          </a:p>
          <a:p xmlns:a="http://schemas.openxmlformats.org/drawingml/2006/main">
            <a:r>
              <a:t>- 用户提供的第一批 Slot smoke 与黄金回归总结（2026-09-02）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价值重心是将产品文档知识结构化，并把测试结论变成可长期维护、跨版本比较的资产。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/Users/wangyangbo/PycharmProjects/gaussdb_test/docs/ARCHITECTURE.md</a:t>
            </a:r>
          </a:p>
          <a:p xmlns:a="http://schemas.openxmlformats.org/drawingml/2006/main">
            <a:r>
              <a:t>- /Users/wangyangbo/PycharmProjects/gaussdb_test/docs/INTRANET_AI_BATCH_EXTRACTION.md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风险是推进计划的输入，不是项目失败。关键是保持置信度标签、根因分类和明确的环境门。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 226 因子审计、低置信产物与清理总结（2026-09-02）</a:t>
            </a:r>
          </a:p>
          <a:p xmlns:a="http://schemas.openxmlformats.org/drawingml/2006/main">
            <a:r>
              <a:t>- /Users/wangyangbo/PycharmProjects/gaussdb_test/docs/ROADMAP.md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收束：先扩大已经证明可行的 Slot 路线，同时把 BNF 解析器、前端性能和能力矩阵作为平台化支撑。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用户提供的下一批 Slot 扩展计划（2026-09-02）</a:t>
            </a:r>
          </a:p>
          <a:p xmlns:a="http://schemas.openxmlformats.org/drawingml/2006/main">
            <a:r>
              <a:t>- /Users/wangyangbo/PycharmProjects/gaussdb_test/docs/ROADMAP.md</a:t>
            </a:r>
          </a:p>
          <a:p xmlns:a="http://schemas.openxmlformats.org/drawingml/2006/main">
            <a:r>
              <a:t>- /Users/wangyangbo/PycharmProjects/gaussdb_test/docs/EVOLUTION_PLAN.md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e3e6b2867040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ad9a982c084e82" /><Relationship Type="http://schemas.openxmlformats.org/officeDocument/2006/relationships/slideLayout" Target="/ppt/slideLayouts/slideLayout1.xml" Id="R3341c72da36341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41c72da36341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9331964124cf2" /><Relationship Type="http://schemas.openxmlformats.org/officeDocument/2006/relationships/notesSlide" Target="/ppt/notesSlides/notesSlide1.xml" Id="R339125cee3a64a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861b2d47a47bf" /><Relationship Type="http://schemas.openxmlformats.org/officeDocument/2006/relationships/notesSlide" Target="/ppt/notesSlides/notesSlide2.xml" Id="R6e5cd5b349ea47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594b8c97f4cab" /><Relationship Type="http://schemas.openxmlformats.org/officeDocument/2006/relationships/notesSlide" Target="/ppt/notesSlides/notesSlide3.xml" Id="Rfb13ee514c514d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d53ce892a4a31" /><Relationship Type="http://schemas.openxmlformats.org/officeDocument/2006/relationships/notesSlide" Target="/ppt/notesSlides/notesSlide4.xml" Id="R0ffd136447944f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632be2cfa477e" /><Relationship Type="http://schemas.openxmlformats.org/officeDocument/2006/relationships/notesSlide" Target="/ppt/notesSlides/notesSlide5.xml" Id="R11ef83c103a44f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41339b0f74549" /><Relationship Type="http://schemas.openxmlformats.org/officeDocument/2006/relationships/notesSlide" Target="/ppt/notesSlides/notesSlide6.xml" Id="Raba67e7a2fd346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85e841ff24368" /><Relationship Type="http://schemas.openxmlformats.org/officeDocument/2006/relationships/notesSlide" Target="/ppt/notesSlides/notesSlide7.xml" Id="Ref0a0ea7f37546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e5f552d5547e5" /><Relationship Type="http://schemas.openxmlformats.org/officeDocument/2006/relationships/notesSlide" Target="/ppt/notesSlides/notesSlide8.xml" Id="Rdc044052ebf840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a61fd90254c8a" /><Relationship Type="http://schemas.openxmlformats.org/officeDocument/2006/relationships/notesSlide" Target="/ppt/notesSlides/notesSlide9.xml" Id="R7266ff641ee749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de66c4e484c2b" /><Relationship Type="http://schemas.openxmlformats.org/officeDocument/2006/relationships/notesSlide" Target="/ppt/notesSlides/notesSlide10.xml" Id="Rfb7a0456797d4c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f758d93584134" /><Relationship Type="http://schemas.openxmlformats.org/officeDocument/2006/relationships/chart" Target="/ppt/slides/charts/chart1.xml" Id="R4a30fb7dedbb402c" /><Relationship Type="http://schemas.openxmlformats.org/officeDocument/2006/relationships/notesSlide" Target="/ppt/notesSlides/notesSlide11.xml" Id="Rb786212da38f42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f8fc87d0a4dad" /><Relationship Type="http://schemas.openxmlformats.org/officeDocument/2006/relationships/notesSlide" Target="/ppt/notesSlides/notesSlide12.xml" Id="R8dd9dbb4a35e45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64c20b686421a" /><Relationship Type="http://schemas.openxmlformats.org/officeDocument/2006/relationships/notesSlide" Target="/ppt/notesSlides/notesSlide13.xml" Id="R1b89d04cc9504b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1025ffe034a94" /><Relationship Type="http://schemas.openxmlformats.org/officeDocument/2006/relationships/notesSlide" Target="/ppt/notesSlides/notesSlide14.xml" Id="R838badd48ae24b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e2d297d4546ff" /><Relationship Type="http://schemas.openxmlformats.org/officeDocument/2006/relationships/notesSlide" Target="/ppt/notesSlides/notesSlide15.xml" Id="R23d39f2fc7f646c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因子数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固定 SQL</c:v>
              </c:pt>
              <c:pt idx="1">
                <c:v>Slot 模板</c:v>
              </c:pt>
              <c:pt idx="2">
                <c:v>原始 BNF</c:v>
              </c:pt>
              <c:pt idx="3">
                <c:v>AST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113</c:v>
              </c:pt>
              <c:pt idx="2">
                <c:v>108</c:v>
              </c:pt>
              <c:pt idx="3">
                <c:v>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5C9D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BE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36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179BFC3-442A-410A-8B05-9579FCBA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5250" cy="584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2E32B19-7C0E-46BF-9A17-DA311E0B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GaussDB · Doc2Test 工程化平台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CE20130-8212-475B-874A-2DB74071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规格驱动的</a:t>
            </a:r>
          </a:p>
          <a:p xmlns:a="http://schemas.openxmlformats.org/drawingml/2006/main">
            <a:pPr algn="l">
              <a:defRPr sz="4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SQL 测试生成系统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4B66D48E-DDE9-4EF8-BAE9-C3DBECA0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把内网产品文档转化为可追溯、可组合、可验证的测试资产</a:t>
            </a:r>
          </a:p>
        </p:txBody>
      </p:sp>
      <p:sp>
        <p:nvSpPr>
          <p:cNvPr id="5" name="cover-chain">
            <a:extLst xmlns:a="http://schemas.openxmlformats.org/drawingml/2006/main">
              <a:ext uri="{FF2B5EF4-FFF2-40B4-BE49-F238E27FC236}">
                <a16:creationId xmlns:a16="http://schemas.microsoft.com/office/drawing/2014/main" id="{17A570F8-AA86-413A-97D6-1FDF6A10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文档证据  →  因子规格  →  约束组合  →  SQL  →  Oracle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16AAD142-DDBB-4E0D-9EAE-DC65D912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项目介绍 · 2026-09-02</a:t>
            </a:r>
          </a:p>
        </p:txBody>
      </p:sp>
    </p:spTree>
    <p:extLst>
      <p:ext uri="{BB962C8B-B14F-4D97-AF65-F5344CB8AC3E}">
        <p14:creationId xmlns:p14="http://schemas.microsoft.com/office/powerpoint/2010/main" val="469150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2">
            <a:extLst xmlns:a="http://schemas.openxmlformats.org/drawingml/2006/main">
              <a:ext uri="{FF2B5EF4-FFF2-40B4-BE49-F238E27FC236}">
                <a16:creationId xmlns:a16="http://schemas.microsoft.com/office/drawing/2014/main" id="{CE88909E-B313-4663-8C87-415DF256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01 · 项目定位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1EE630E-BEAF-4475-A850-7398D093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一句话理解这个项目</a:t>
            </a:r>
          </a:p>
        </p:txBody>
      </p:sp>
      <p:sp>
        <p:nvSpPr>
          <p:cNvPr id="3" name="rule-48-138">
            <a:extLst xmlns:a="http://schemas.openxmlformats.org/drawingml/2006/main">
              <a:ext uri="{FF2B5EF4-FFF2-40B4-BE49-F238E27FC236}">
                <a16:creationId xmlns:a16="http://schemas.microsoft.com/office/drawing/2014/main" id="{372EFB10-9D89-4DF6-87D0-3405F2A6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36CF9542-3295-4041-885A-34A9F18A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thesis">
            <a:extLst xmlns:a="http://schemas.openxmlformats.org/drawingml/2006/main">
              <a:ext uri="{FF2B5EF4-FFF2-40B4-BE49-F238E27FC236}">
                <a16:creationId xmlns:a16="http://schemas.microsoft.com/office/drawing/2014/main" id="{58B69F9D-85EE-4E72-9748-65673050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1062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把“读文档、写用例、看报错”变成一条可重复运行、可追溯审计的生产线。</a:t>
            </a:r>
          </a:p>
        </p:txBody>
      </p:sp>
      <p:sp>
        <p:nvSpPr>
          <p:cNvPr id="6" name="thesis-panel-0">
            <a:extLst xmlns:a="http://schemas.openxmlformats.org/drawingml/2006/main">
              <a:ext uri="{FF2B5EF4-FFF2-40B4-BE49-F238E27FC236}">
                <a16:creationId xmlns:a16="http://schemas.microsoft.com/office/drawing/2014/main" id="{2474E6E0-43DD-4419-B69C-B7A38D52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1623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7" name="thesis-num-0">
            <a:extLst xmlns:a="http://schemas.openxmlformats.org/drawingml/2006/main">
              <a:ext uri="{FF2B5EF4-FFF2-40B4-BE49-F238E27FC236}">
                <a16:creationId xmlns:a16="http://schemas.microsoft.com/office/drawing/2014/main" id="{915CCF93-8C4A-4093-9A4D-6C70921C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hesis-head-0">
            <a:extLst xmlns:a="http://schemas.openxmlformats.org/drawingml/2006/main">
              <a:ext uri="{FF2B5EF4-FFF2-40B4-BE49-F238E27FC236}">
                <a16:creationId xmlns:a16="http://schemas.microsoft.com/office/drawing/2014/main" id="{4ECE9391-02FA-476A-A655-E94DC3F8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可控抽取</a:t>
            </a:r>
          </a:p>
        </p:txBody>
      </p:sp>
      <p:sp>
        <p:nvSpPr>
          <p:cNvPr id="9" name="thesis-body-0">
            <a:extLst xmlns:a="http://schemas.openxmlformats.org/drawingml/2006/main">
              <a:ext uri="{FF2B5EF4-FFF2-40B4-BE49-F238E27FC236}">
                <a16:creationId xmlns:a16="http://schemas.microsoft.com/office/drawing/2014/main" id="{149EA4F7-98B8-4A0C-8D6B-7B294D01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705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每条事实保留原文锚点、事实类型与处置状态，能够证明“没有漏读”。</a:t>
            </a:r>
          </a:p>
        </p:txBody>
      </p:sp>
      <p:sp>
        <p:nvSpPr>
          <p:cNvPr id="10" name="thesis-panel-1">
            <a:extLst xmlns:a="http://schemas.openxmlformats.org/drawingml/2006/main">
              <a:ext uri="{FF2B5EF4-FFF2-40B4-BE49-F238E27FC236}">
                <a16:creationId xmlns:a16="http://schemas.microsoft.com/office/drawing/2014/main" id="{F28F8859-6A11-49A4-A631-DB04FEF9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31623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A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1" name="thesis-num-1">
            <a:extLst xmlns:a="http://schemas.openxmlformats.org/drawingml/2006/main">
              <a:ext uri="{FF2B5EF4-FFF2-40B4-BE49-F238E27FC236}">
                <a16:creationId xmlns:a16="http://schemas.microsoft.com/office/drawing/2014/main" id="{732D9719-9212-406A-A90E-5867AA7B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thesis-head-1">
            <a:extLst xmlns:a="http://schemas.openxmlformats.org/drawingml/2006/main">
              <a:ext uri="{FF2B5EF4-FFF2-40B4-BE49-F238E27FC236}">
                <a16:creationId xmlns:a16="http://schemas.microsoft.com/office/drawing/2014/main" id="{CCE4B51D-4A01-4D82-931B-3820A729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确定性生成</a:t>
            </a:r>
          </a:p>
        </p:txBody>
      </p:sp>
      <p:sp>
        <p:nvSpPr>
          <p:cNvPr id="13" name="thesis-body-1">
            <a:extLst xmlns:a="http://schemas.openxmlformats.org/drawingml/2006/main">
              <a:ext uri="{FF2B5EF4-FFF2-40B4-BE49-F238E27FC236}">
                <a16:creationId xmlns:a16="http://schemas.microsoft.com/office/drawing/2014/main" id="{8B679F35-F5ED-4FF8-844E-B91EEC0E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33850"/>
            <a:ext cx="2705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语法、值域、约束、Fixture 与 Pairwise 都是显式规格，不依赖临场猜测。</a:t>
            </a:r>
          </a:p>
        </p:txBody>
      </p:sp>
      <p:sp>
        <p:nvSpPr>
          <p:cNvPr id="14" name="thesis-panel-2">
            <a:extLst xmlns:a="http://schemas.openxmlformats.org/drawingml/2006/main">
              <a:ext uri="{FF2B5EF4-FFF2-40B4-BE49-F238E27FC236}">
                <a16:creationId xmlns:a16="http://schemas.microsoft.com/office/drawing/2014/main" id="{899E843D-FD40-4DA0-AC36-C6424202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31623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5" name="thesis-num-2">
            <a:extLst xmlns:a="http://schemas.openxmlformats.org/drawingml/2006/main">
              <a:ext uri="{FF2B5EF4-FFF2-40B4-BE49-F238E27FC236}">
                <a16:creationId xmlns:a16="http://schemas.microsoft.com/office/drawing/2014/main" id="{42214D48-28F5-45EC-BCCF-4B5A5C25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hesis-head-2">
            <a:extLst xmlns:a="http://schemas.openxmlformats.org/drawingml/2006/main">
              <a:ext uri="{FF2B5EF4-FFF2-40B4-BE49-F238E27FC236}">
                <a16:creationId xmlns:a16="http://schemas.microsoft.com/office/drawing/2014/main" id="{A08F1197-E454-4026-BE12-3ADDA660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证据化验证</a:t>
            </a:r>
          </a:p>
        </p:txBody>
      </p:sp>
      <p:sp>
        <p:nvSpPr>
          <p:cNvPr id="17" name="thesis-body-2">
            <a:extLst xmlns:a="http://schemas.openxmlformats.org/drawingml/2006/main">
              <a:ext uri="{FF2B5EF4-FFF2-40B4-BE49-F238E27FC236}">
                <a16:creationId xmlns:a16="http://schemas.microsoft.com/office/drawing/2014/main" id="{AA5768E4-960C-4CF1-9A35-AE32ADA9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33850"/>
            <a:ext cx="2705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成功用例验证行为；失败用例验证目标 SQLSTATE / 错误类别，而不是“报错就算对”。</a:t>
            </a:r>
          </a:p>
        </p:txBody>
      </p:sp>
      <p:sp>
        <p:nvSpPr>
          <p:cNvPr id="18" name="thesis-bottom">
            <a:extLst xmlns:a="http://schemas.openxmlformats.org/drawingml/2006/main">
              <a:ext uri="{FF2B5EF4-FFF2-40B4-BE49-F238E27FC236}">
                <a16:creationId xmlns:a16="http://schemas.microsoft.com/office/drawing/2014/main" id="{637D7CE0-42C8-4497-B56E-713DFB8B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核心判断：SQL 数量不是质量；可解释、可复现、可校验的覆盖结论才是质量。</a:t>
            </a:r>
          </a:p>
        </p:txBody>
      </p:sp>
    </p:spTree>
    <p:extLst>
      <p:ext uri="{BB962C8B-B14F-4D97-AF65-F5344CB8AC3E}">
        <p14:creationId xmlns:p14="http://schemas.microsoft.com/office/powerpoint/2010/main" val="509294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3">
            <a:extLst xmlns:a="http://schemas.openxmlformats.org/drawingml/2006/main">
              <a:ext uri="{FF2B5EF4-FFF2-40B4-BE49-F238E27FC236}">
                <a16:creationId xmlns:a16="http://schemas.microsoft.com/office/drawing/2014/main" id="{0A7C7613-4A3B-4CE6-A68A-ADBF7387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02 · 需求背景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DCA927D-F732-4858-90E0-29FE1B9C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为什么需要这套系统</a:t>
            </a:r>
          </a:p>
        </p:txBody>
      </p:sp>
      <p:sp>
        <p:nvSpPr>
          <p:cNvPr id="3" name="rule-48-138">
            <a:extLst xmlns:a="http://schemas.openxmlformats.org/drawingml/2006/main">
              <a:ext uri="{FF2B5EF4-FFF2-40B4-BE49-F238E27FC236}">
                <a16:creationId xmlns:a16="http://schemas.microsoft.com/office/drawing/2014/main" id="{0D8F1569-64E4-4F69-BDFF-62746F16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52BC2CD-13D5-4340-AFFE-8B48C20C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pages-value">
            <a:extLst xmlns:a="http://schemas.openxmlformats.org/drawingml/2006/main">
              <a:ext uri="{FF2B5EF4-FFF2-40B4-BE49-F238E27FC236}">
                <a16:creationId xmlns:a16="http://schemas.microsoft.com/office/drawing/2014/main" id="{77D1C301-E331-42E3-A75F-353FB074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≈ 5,800 页</a:t>
            </a:r>
          </a:p>
        </p:txBody>
      </p:sp>
      <p:sp>
        <p:nvSpPr>
          <p:cNvPr id="6" name="pages-label">
            <a:extLst xmlns:a="http://schemas.openxmlformats.org/drawingml/2006/main">
              <a:ext uri="{FF2B5EF4-FFF2-40B4-BE49-F238E27FC236}">
                <a16:creationId xmlns:a16="http://schemas.microsoft.com/office/drawing/2014/main" id="{621E946A-5E42-40C9-BB1B-13FF12A3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GaussDB 产品参考文档</a:t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位于公司内网，无法直接外传</a:t>
            </a:r>
          </a:p>
        </p:txBody>
      </p:sp>
      <p:sp>
        <p:nvSpPr>
          <p:cNvPr id="7" name="rule-64-330">
            <a:extLst xmlns:a="http://schemas.openxmlformats.org/drawingml/2006/main">
              <a:ext uri="{FF2B5EF4-FFF2-40B4-BE49-F238E27FC236}">
                <a16:creationId xmlns:a16="http://schemas.microsoft.com/office/drawing/2014/main" id="{8956BE25-5C88-4276-85A2-1EE2F027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8" name="background-thesis">
            <a:extLst xmlns:a="http://schemas.openxmlformats.org/drawingml/2006/main">
              <a:ext uri="{FF2B5EF4-FFF2-40B4-BE49-F238E27FC236}">
                <a16:creationId xmlns:a16="http://schemas.microsoft.com/office/drawing/2014/main" id="{DFC76B3F-16C6-4D7E-AAEC-58D7F46E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5433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目标不是让 AI “读完并吐出一堆 SQL”，而是让任何内网 AI 都能遵守同一套抽取与验证协议。</a:t>
            </a:r>
          </a:p>
        </p:txBody>
      </p:sp>
      <p:sp>
        <p:nvSpPr>
          <p:cNvPr id="9" name="pain-0">
            <a:extLst xmlns:a="http://schemas.openxmlformats.org/drawingml/2006/main">
              <a:ext uri="{FF2B5EF4-FFF2-40B4-BE49-F238E27FC236}">
                <a16:creationId xmlns:a16="http://schemas.microsoft.com/office/drawing/2014/main" id="{DFD0B957-1CB9-4FFA-BF6C-C258502D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76400"/>
            <a:ext cx="30289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0" name="pain-head-0">
            <a:extLst xmlns:a="http://schemas.openxmlformats.org/drawingml/2006/main">
              <a:ext uri="{FF2B5EF4-FFF2-40B4-BE49-F238E27FC236}">
                <a16:creationId xmlns:a16="http://schemas.microsoft.com/office/drawing/2014/main" id="{9D182AB3-5A43-4F86-98A7-947D5196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050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人工抽取不可复制</a:t>
            </a:r>
          </a:p>
        </p:txBody>
      </p:sp>
      <p:sp>
        <p:nvSpPr>
          <p:cNvPr id="11" name="pain-body-0">
            <a:extLst xmlns:a="http://schemas.openxmlformats.org/drawingml/2006/main">
              <a:ext uri="{FF2B5EF4-FFF2-40B4-BE49-F238E27FC236}">
                <a16:creationId xmlns:a16="http://schemas.microsoft.com/office/drawing/2014/main" id="{12C0A221-CF2A-4F66-9728-EDBA5FCE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260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不同人对同一段文档拆出不同因子，遗漏和规则漂移难以发现。</a:t>
            </a:r>
          </a:p>
        </p:txBody>
      </p:sp>
      <p:sp>
        <p:nvSpPr>
          <p:cNvPr id="12" name="pain-1">
            <a:extLst xmlns:a="http://schemas.openxmlformats.org/drawingml/2006/main">
              <a:ext uri="{FF2B5EF4-FFF2-40B4-BE49-F238E27FC236}">
                <a16:creationId xmlns:a16="http://schemas.microsoft.com/office/drawing/2014/main" id="{6BAB49B3-2BD4-4FA0-A30E-D4A84411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0289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3" name="pain-head-1">
            <a:extLst xmlns:a="http://schemas.openxmlformats.org/drawingml/2006/main">
              <a:ext uri="{FF2B5EF4-FFF2-40B4-BE49-F238E27FC236}">
                <a16:creationId xmlns:a16="http://schemas.microsoft.com/office/drawing/2014/main" id="{CF6F023B-82C7-4A97-820F-00F25DD5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示例不等于覆盖</a:t>
            </a:r>
          </a:p>
        </p:txBody>
      </p:sp>
      <p:sp>
        <p:nvSpPr>
          <p:cNvPr id="14" name="pain-body-1">
            <a:extLst xmlns:a="http://schemas.openxmlformats.org/drawingml/2006/main">
              <a:ext uri="{FF2B5EF4-FFF2-40B4-BE49-F238E27FC236}">
                <a16:creationId xmlns:a16="http://schemas.microsoft.com/office/drawing/2014/main" id="{E705507F-0788-4607-8FD3-827D7EE2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260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文档示例通常只覆盖主路径，选项组合与负向边界仍然空白。</a:t>
            </a:r>
          </a:p>
        </p:txBody>
      </p:sp>
      <p:sp>
        <p:nvSpPr>
          <p:cNvPr id="15" name="pain-2">
            <a:extLst xmlns:a="http://schemas.openxmlformats.org/drawingml/2006/main">
              <a:ext uri="{FF2B5EF4-FFF2-40B4-BE49-F238E27FC236}">
                <a16:creationId xmlns:a16="http://schemas.microsoft.com/office/drawing/2014/main" id="{D4A71539-B605-449F-B045-6EC6F0DA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71900"/>
            <a:ext cx="30289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0D4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6" name="pain-head-2">
            <a:extLst xmlns:a="http://schemas.openxmlformats.org/drawingml/2006/main">
              <a:ext uri="{FF2B5EF4-FFF2-40B4-BE49-F238E27FC236}">
                <a16:creationId xmlns:a16="http://schemas.microsoft.com/office/drawing/2014/main" id="{AD18D494-C278-4357-8C26-376342B0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005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组合空间爆炸</a:t>
            </a:r>
          </a:p>
        </p:txBody>
      </p:sp>
      <p:sp>
        <p:nvSpPr>
          <p:cNvPr id="17" name="pain-body-2">
            <a:extLst xmlns:a="http://schemas.openxmlformats.org/drawingml/2006/main">
              <a:ext uri="{FF2B5EF4-FFF2-40B4-BE49-F238E27FC236}">
                <a16:creationId xmlns:a16="http://schemas.microsoft.com/office/drawing/2014/main" id="{CB711203-2CFA-4B57-9618-B039C787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95800"/>
            <a:ext cx="260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多个参数直接笛卡尔积可达到亿级；盲目全量枚举不可运行。</a:t>
            </a:r>
          </a:p>
        </p:txBody>
      </p:sp>
      <p:sp>
        <p:nvSpPr>
          <p:cNvPr id="18" name="pain-3">
            <a:extLst xmlns:a="http://schemas.openxmlformats.org/drawingml/2006/main">
              <a:ext uri="{FF2B5EF4-FFF2-40B4-BE49-F238E27FC236}">
                <a16:creationId xmlns:a16="http://schemas.microsoft.com/office/drawing/2014/main" id="{A659C229-D197-4F83-9363-9580AA8F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71900"/>
            <a:ext cx="30289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9" name="pain-head-3">
            <a:extLst xmlns:a="http://schemas.openxmlformats.org/drawingml/2006/main">
              <a:ext uri="{FF2B5EF4-FFF2-40B4-BE49-F238E27FC236}">
                <a16:creationId xmlns:a16="http://schemas.microsoft.com/office/drawing/2014/main" id="{07FB6BD3-BE10-4B6C-9207-07F0C02A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报错不等于命中</a:t>
            </a:r>
          </a:p>
        </p:txBody>
      </p:sp>
      <p:sp>
        <p:nvSpPr>
          <p:cNvPr id="20" name="pain-body-3">
            <a:extLst xmlns:a="http://schemas.openxmlformats.org/drawingml/2006/main">
              <a:ext uri="{FF2B5EF4-FFF2-40B4-BE49-F238E27FC236}">
                <a16:creationId xmlns:a16="http://schemas.microsoft.com/office/drawing/2014/main" id="{596EDFC9-EDF8-4457-BB56-D0AB3CE7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95800"/>
            <a:ext cx="260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Fixture、对象、权限或语法拼接错误都可能制造“假负向通过”。</a:t>
            </a:r>
          </a:p>
        </p:txBody>
      </p:sp>
    </p:spTree>
    <p:extLst>
      <p:ext uri="{BB962C8B-B14F-4D97-AF65-F5344CB8AC3E}">
        <p14:creationId xmlns:p14="http://schemas.microsoft.com/office/powerpoint/2010/main" val="317246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4">
            <a:extLst xmlns:a="http://schemas.openxmlformats.org/drawingml/2006/main">
              <a:ext uri="{FF2B5EF4-FFF2-40B4-BE49-F238E27FC236}">
                <a16:creationId xmlns:a16="http://schemas.microsoft.com/office/drawing/2014/main" id="{3BD60AF7-2E08-47F4-9044-B43AF03D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03 · 需求定义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148287C-E020-4D0B-9AA9-B03E2D8B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系统必须同时满足六类要求</a:t>
            </a:r>
          </a:p>
        </p:txBody>
      </p:sp>
      <p:sp>
        <p:nvSpPr>
          <p:cNvPr id="3" name="rule-48-138">
            <a:extLst xmlns:a="http://schemas.openxmlformats.org/drawingml/2006/main">
              <a:ext uri="{FF2B5EF4-FFF2-40B4-BE49-F238E27FC236}">
                <a16:creationId xmlns:a16="http://schemas.microsoft.com/office/drawing/2014/main" id="{F1ED181D-ED6F-4AF6-8162-433F8B7F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5F14FE9-77E5-4B45-841C-110C043B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req-index-0">
            <a:extLst xmlns:a="http://schemas.openxmlformats.org/drawingml/2006/main">
              <a:ext uri="{FF2B5EF4-FFF2-40B4-BE49-F238E27FC236}">
                <a16:creationId xmlns:a16="http://schemas.microsoft.com/office/drawing/2014/main" id="{88269F13-6D78-41B7-A7C2-60F53E88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req-head-0">
            <a:extLst xmlns:a="http://schemas.openxmlformats.org/drawingml/2006/main">
              <a:ext uri="{FF2B5EF4-FFF2-40B4-BE49-F238E27FC236}">
                <a16:creationId xmlns:a16="http://schemas.microsoft.com/office/drawing/2014/main" id="{3879896E-3338-41BE-B8CD-1C4FB687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38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完整性</a:t>
            </a:r>
          </a:p>
        </p:txBody>
      </p:sp>
      <p:sp>
        <p:nvSpPr>
          <p:cNvPr id="7" name="req-body-0">
            <a:extLst xmlns:a="http://schemas.openxmlformats.org/drawingml/2006/main">
              <a:ext uri="{FF2B5EF4-FFF2-40B4-BE49-F238E27FC236}">
                <a16:creationId xmlns:a16="http://schemas.microsoft.com/office/drawing/2014/main" id="{E39A30A4-44E4-497F-847B-8D1ABC0D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原文单元有覆盖账本；遗漏能被机器发现。</a:t>
            </a:r>
          </a:p>
        </p:txBody>
      </p:sp>
      <p:sp>
        <p:nvSpPr>
          <p:cNvPr id="8" name="rule-58-316">
            <a:extLst xmlns:a="http://schemas.openxmlformats.org/drawingml/2006/main">
              <a:ext uri="{FF2B5EF4-FFF2-40B4-BE49-F238E27FC236}">
                <a16:creationId xmlns:a16="http://schemas.microsoft.com/office/drawing/2014/main" id="{BBD4488E-91F3-43FA-B462-39869430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9" name="req-index-1">
            <a:extLst xmlns:a="http://schemas.openxmlformats.org/drawingml/2006/main">
              <a:ext uri="{FF2B5EF4-FFF2-40B4-BE49-F238E27FC236}">
                <a16:creationId xmlns:a16="http://schemas.microsoft.com/office/drawing/2014/main" id="{DC6A8C6D-4A97-4322-BCC4-E29A1B77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57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req-head-1">
            <a:extLst xmlns:a="http://schemas.openxmlformats.org/drawingml/2006/main">
              <a:ext uri="{FF2B5EF4-FFF2-40B4-BE49-F238E27FC236}">
                <a16:creationId xmlns:a16="http://schemas.microsoft.com/office/drawing/2014/main" id="{D65EA4E0-F562-4A90-ADE0-052E3E5F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38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可追溯</a:t>
            </a:r>
          </a:p>
        </p:txBody>
      </p:sp>
      <p:sp>
        <p:nvSpPr>
          <p:cNvPr id="11" name="req-body-1">
            <a:extLst xmlns:a="http://schemas.openxmlformats.org/drawingml/2006/main">
              <a:ext uri="{FF2B5EF4-FFF2-40B4-BE49-F238E27FC236}">
                <a16:creationId xmlns:a16="http://schemas.microsoft.com/office/drawing/2014/main" id="{E15D4FC6-8891-4F84-B5BE-3F82B75E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145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SQL、规则、Oracle 都能回指文档事实。</a:t>
            </a:r>
          </a:p>
        </p:txBody>
      </p:sp>
      <p:sp>
        <p:nvSpPr>
          <p:cNvPr id="12" name="rule-464-316">
            <a:extLst xmlns:a="http://schemas.openxmlformats.org/drawingml/2006/main">
              <a:ext uri="{FF2B5EF4-FFF2-40B4-BE49-F238E27FC236}">
                <a16:creationId xmlns:a16="http://schemas.microsoft.com/office/drawing/2014/main" id="{3786BAA0-EFB8-40C5-8248-829AAAF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3" name="req-index-2">
            <a:extLst xmlns:a="http://schemas.openxmlformats.org/drawingml/2006/main">
              <a:ext uri="{FF2B5EF4-FFF2-40B4-BE49-F238E27FC236}">
                <a16:creationId xmlns:a16="http://schemas.microsoft.com/office/drawing/2014/main" id="{0D685A94-03E3-41C8-BC08-DF6E4002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57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req-head-2">
            <a:extLst xmlns:a="http://schemas.openxmlformats.org/drawingml/2006/main">
              <a:ext uri="{FF2B5EF4-FFF2-40B4-BE49-F238E27FC236}">
                <a16:creationId xmlns:a16="http://schemas.microsoft.com/office/drawing/2014/main" id="{C9BFF4C9-C30E-4618-A8DF-EC9EBE6B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38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正确性</a:t>
            </a:r>
          </a:p>
        </p:txBody>
      </p:sp>
      <p:sp>
        <p:nvSpPr>
          <p:cNvPr id="15" name="req-body-2">
            <a:extLst xmlns:a="http://schemas.openxmlformats.org/drawingml/2006/main">
              <a:ext uri="{FF2B5EF4-FFF2-40B4-BE49-F238E27FC236}">
                <a16:creationId xmlns:a16="http://schemas.microsoft.com/office/drawing/2014/main" id="{7C61829E-78E3-4E30-AB9A-AFEFECAF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145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组合先经过约束、类型与列契约检查。</a:t>
            </a:r>
          </a:p>
        </p:txBody>
      </p:sp>
      <p:sp>
        <p:nvSpPr>
          <p:cNvPr id="16" name="rule-870-316">
            <a:extLst xmlns:a="http://schemas.openxmlformats.org/drawingml/2006/main">
              <a:ext uri="{FF2B5EF4-FFF2-40B4-BE49-F238E27FC236}">
                <a16:creationId xmlns:a16="http://schemas.microsoft.com/office/drawing/2014/main" id="{15A33A6C-D1D8-44D9-A36E-7AF9AEE3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7" name="req-index-3">
            <a:extLst xmlns:a="http://schemas.openxmlformats.org/drawingml/2006/main">
              <a:ext uri="{FF2B5EF4-FFF2-40B4-BE49-F238E27FC236}">
                <a16:creationId xmlns:a16="http://schemas.microsoft.com/office/drawing/2014/main" id="{29E9ABAF-3A5D-4309-898F-C903DFB3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req-head-3">
            <a:extLst xmlns:a="http://schemas.openxmlformats.org/drawingml/2006/main">
              <a:ext uri="{FF2B5EF4-FFF2-40B4-BE49-F238E27FC236}">
                <a16:creationId xmlns:a16="http://schemas.microsoft.com/office/drawing/2014/main" id="{BF250696-882B-402F-8E2A-3067E138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经济性</a:t>
            </a:r>
          </a:p>
        </p:txBody>
      </p:sp>
      <p:sp>
        <p:nvSpPr>
          <p:cNvPr id="19" name="req-body-3">
            <a:extLst xmlns:a="http://schemas.openxmlformats.org/drawingml/2006/main">
              <a:ext uri="{FF2B5EF4-FFF2-40B4-BE49-F238E27FC236}">
                <a16:creationId xmlns:a16="http://schemas.microsoft.com/office/drawing/2014/main" id="{608E2C78-322D-4DA0-A466-1CD9ECF1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Pairwise 覆盖可行参数对，避免盲目笛卡尔积。</a:t>
            </a:r>
          </a:p>
        </p:txBody>
      </p:sp>
      <p:sp>
        <p:nvSpPr>
          <p:cNvPr id="20" name="rule-58-504">
            <a:extLst xmlns:a="http://schemas.openxmlformats.org/drawingml/2006/main">
              <a:ext uri="{FF2B5EF4-FFF2-40B4-BE49-F238E27FC236}">
                <a16:creationId xmlns:a16="http://schemas.microsoft.com/office/drawing/2014/main" id="{9DFA1ECB-FEE4-4163-80E7-DA48B542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0060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21" name="req-index-4">
            <a:extLst xmlns:a="http://schemas.openxmlformats.org/drawingml/2006/main">
              <a:ext uri="{FF2B5EF4-FFF2-40B4-BE49-F238E27FC236}">
                <a16:creationId xmlns:a16="http://schemas.microsoft.com/office/drawing/2014/main" id="{688B96F9-7C8A-4982-8D9D-09E04C73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48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req-head-4">
            <a:extLst xmlns:a="http://schemas.openxmlformats.org/drawingml/2006/main">
              <a:ext uri="{FF2B5EF4-FFF2-40B4-BE49-F238E27FC236}">
                <a16:creationId xmlns:a16="http://schemas.microsoft.com/office/drawing/2014/main" id="{47FC67D1-BF72-4692-8912-02741276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可执行</a:t>
            </a:r>
          </a:p>
        </p:txBody>
      </p:sp>
      <p:sp>
        <p:nvSpPr>
          <p:cNvPr id="23" name="req-body-4">
            <a:extLst xmlns:a="http://schemas.openxmlformats.org/drawingml/2006/main">
              <a:ext uri="{FF2B5EF4-FFF2-40B4-BE49-F238E27FC236}">
                <a16:creationId xmlns:a16="http://schemas.microsoft.com/office/drawing/2014/main" id="{8E2C6066-1243-46F6-B349-E2001E3B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05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Fixture 提供真实对象、列、数据和清理。</a:t>
            </a:r>
          </a:p>
        </p:txBody>
      </p:sp>
      <p:sp>
        <p:nvSpPr>
          <p:cNvPr id="24" name="rule-464-504">
            <a:extLst xmlns:a="http://schemas.openxmlformats.org/drawingml/2006/main">
              <a:ext uri="{FF2B5EF4-FFF2-40B4-BE49-F238E27FC236}">
                <a16:creationId xmlns:a16="http://schemas.microsoft.com/office/drawing/2014/main" id="{47011404-336D-489A-952E-38E6DBDC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0060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25" name="req-index-5">
            <a:extLst xmlns:a="http://schemas.openxmlformats.org/drawingml/2006/main">
              <a:ext uri="{FF2B5EF4-FFF2-40B4-BE49-F238E27FC236}">
                <a16:creationId xmlns:a16="http://schemas.microsoft.com/office/drawing/2014/main" id="{301B356C-78BF-4119-B4AE-50C0B935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6" name="req-head-5">
            <a:extLst xmlns:a="http://schemas.openxmlformats.org/drawingml/2006/main">
              <a:ext uri="{FF2B5EF4-FFF2-40B4-BE49-F238E27FC236}">
                <a16:creationId xmlns:a16="http://schemas.microsoft.com/office/drawing/2014/main" id="{E2084677-9D2F-4A72-9004-DBAAF4FD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29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可扩展</a:t>
            </a:r>
          </a:p>
        </p:txBody>
      </p:sp>
      <p:sp>
        <p:nvSpPr>
          <p:cNvPr id="27" name="req-body-5">
            <a:extLst xmlns:a="http://schemas.openxmlformats.org/drawingml/2006/main">
              <a:ext uri="{FF2B5EF4-FFF2-40B4-BE49-F238E27FC236}">
                <a16:creationId xmlns:a16="http://schemas.microsoft.com/office/drawing/2014/main" id="{54DB5135-82D5-4C69-AABA-11F969AF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05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可批量处理，也可按版本/模式/存储能力分层。</a:t>
            </a:r>
          </a:p>
        </p:txBody>
      </p:sp>
      <p:sp>
        <p:nvSpPr>
          <p:cNvPr id="28" name="rule-870-504">
            <a:extLst xmlns:a="http://schemas.openxmlformats.org/drawingml/2006/main">
              <a:ext uri="{FF2B5EF4-FFF2-40B4-BE49-F238E27FC236}">
                <a16:creationId xmlns:a16="http://schemas.microsoft.com/office/drawing/2014/main" id="{2AB6F059-5ED7-46E0-BF83-BB6AFE33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21DD47E6-D80C-408F-B0C0-47BB6311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30" name="boundary-text">
            <a:extLst xmlns:a="http://schemas.openxmlformats.org/drawingml/2006/main">
              <a:ext uri="{FF2B5EF4-FFF2-40B4-BE49-F238E27FC236}">
                <a16:creationId xmlns:a16="http://schemas.microsoft.com/office/drawing/2014/main" id="{3B06B82D-D2A8-44F8-B0AD-C92A64EF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边界：系统承诺生成“受规格约束的候选测试资产”；未经 Smoke / Oracle 验证的 SQL，不自动升级为可信回归用例。</a:t>
            </a:r>
          </a:p>
        </p:txBody>
      </p:sp>
    </p:spTree>
    <p:extLst>
      <p:ext uri="{BB962C8B-B14F-4D97-AF65-F5344CB8AC3E}">
        <p14:creationId xmlns:p14="http://schemas.microsoft.com/office/powerpoint/2010/main" val="499726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-5">
            <a:extLst xmlns:a="http://schemas.openxmlformats.org/drawingml/2006/main">
              <a:ext uri="{FF2B5EF4-FFF2-40B4-BE49-F238E27FC236}">
                <a16:creationId xmlns:a16="http://schemas.microsoft.com/office/drawing/2014/main" id="{4FC67F2A-7512-4F9A-B705-9B5475B1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04 · 总体架构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EA594C9-E84B-4DAD-8CF0-77D1D813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从产品文档到测试证据的完整流水线</a:t>
            </a:r>
          </a:p>
        </p:txBody>
      </p:sp>
      <p:sp>
        <p:nvSpPr>
          <p:cNvPr id="3" name="rule-48-138">
            <a:extLst xmlns:a="http://schemas.openxmlformats.org/drawingml/2006/main">
              <a:ext uri="{FF2B5EF4-FFF2-40B4-BE49-F238E27FC236}">
                <a16:creationId xmlns:a16="http://schemas.microsoft.com/office/drawing/2014/main" id="{09B1937C-1950-442F-861F-79BC3AA0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91283AA4-D16A-41B2-A7CC-0E50B699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arrow-174-306">
            <a:extLst xmlns:a="http://schemas.openxmlformats.org/drawingml/2006/main">
              <a:ext uri="{FF2B5EF4-FFF2-40B4-BE49-F238E27FC236}">
                <a16:creationId xmlns:a16="http://schemas.microsoft.com/office/drawing/2014/main" id="{DCACDCD6-0009-4BE7-A218-410F64C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1465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340-306">
            <a:extLst xmlns:a="http://schemas.openxmlformats.org/drawingml/2006/main">
              <a:ext uri="{FF2B5EF4-FFF2-40B4-BE49-F238E27FC236}">
                <a16:creationId xmlns:a16="http://schemas.microsoft.com/office/drawing/2014/main" id="{B2A55E46-C7BD-4437-BAB4-6D726242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1465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506-306">
            <a:extLst xmlns:a="http://schemas.openxmlformats.org/drawingml/2006/main">
              <a:ext uri="{FF2B5EF4-FFF2-40B4-BE49-F238E27FC236}">
                <a16:creationId xmlns:a16="http://schemas.microsoft.com/office/drawing/2014/main" id="{87B90052-CEF3-4F57-BA4D-78C027CB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1465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672-306">
            <a:extLst xmlns:a="http://schemas.openxmlformats.org/drawingml/2006/main">
              <a:ext uri="{FF2B5EF4-FFF2-40B4-BE49-F238E27FC236}">
                <a16:creationId xmlns:a16="http://schemas.microsoft.com/office/drawing/2014/main" id="{DA5D5ADD-4D92-45A5-B876-CD0DE2C7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row-838-306">
            <a:extLst xmlns:a="http://schemas.openxmlformats.org/drawingml/2006/main">
              <a:ext uri="{FF2B5EF4-FFF2-40B4-BE49-F238E27FC236}">
                <a16:creationId xmlns:a16="http://schemas.microsoft.com/office/drawing/2014/main" id="{565B9747-E0F0-4A95-B4B1-1336A608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row-1004-306">
            <a:extLst xmlns:a="http://schemas.openxmlformats.org/drawingml/2006/main">
              <a:ext uri="{FF2B5EF4-FFF2-40B4-BE49-F238E27FC236}">
                <a16:creationId xmlns:a16="http://schemas.microsoft.com/office/drawing/2014/main" id="{4FC25503-CDAE-49CD-836E-47807B6B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1465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node-0">
            <a:extLst xmlns:a="http://schemas.openxmlformats.org/drawingml/2006/main">
              <a:ext uri="{FF2B5EF4-FFF2-40B4-BE49-F238E27FC236}">
                <a16:creationId xmlns:a16="http://schemas.microsoft.com/office/drawing/2014/main" id="{8F15E396-8982-4904-A009-445F0121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1200150" cy="16002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2" name="arch-head-0">
            <a:extLst xmlns:a="http://schemas.openxmlformats.org/drawingml/2006/main">
              <a:ext uri="{FF2B5EF4-FFF2-40B4-BE49-F238E27FC236}">
                <a16:creationId xmlns:a16="http://schemas.microsoft.com/office/drawing/2014/main" id="{DE723EEE-6349-4001-9820-17CE9257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文档</a:t>
            </a:r>
          </a:p>
        </p:txBody>
      </p:sp>
      <p:sp>
        <p:nvSpPr>
          <p:cNvPr id="13" name="arch-body-0">
            <a:extLst xmlns:a="http://schemas.openxmlformats.org/drawingml/2006/main">
              <a:ext uri="{FF2B5EF4-FFF2-40B4-BE49-F238E27FC236}">
                <a16:creationId xmlns:a16="http://schemas.microsoft.com/office/drawing/2014/main" id="{CF291BFF-2550-436C-AB7B-4687A647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章节 / 语法</a:t>
            </a:r>
          </a:p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说明 / 示例</a:t>
            </a:r>
          </a:p>
        </p:txBody>
      </p:sp>
      <p:sp>
        <p:nvSpPr>
          <p:cNvPr id="14" name="arch-node-1">
            <a:extLst xmlns:a="http://schemas.openxmlformats.org/drawingml/2006/main">
              <a:ext uri="{FF2B5EF4-FFF2-40B4-BE49-F238E27FC236}">
                <a16:creationId xmlns:a16="http://schemas.microsoft.com/office/drawing/2014/main" id="{2783DB16-477F-485E-AD47-663DEE7D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66950"/>
            <a:ext cx="1200150" cy="16002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5" name="arch-head-1">
            <a:extLst xmlns:a="http://schemas.openxmlformats.org/drawingml/2006/main">
              <a:ext uri="{FF2B5EF4-FFF2-40B4-BE49-F238E27FC236}">
                <a16:creationId xmlns:a16="http://schemas.microsoft.com/office/drawing/2014/main" id="{74595405-0BAA-43BB-A9BC-7CBB5AC0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765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Source</a:t>
            </a:r>
          </a:p>
        </p:txBody>
      </p:sp>
      <p:sp>
        <p:nvSpPr>
          <p:cNvPr id="16" name="arch-body-1">
            <a:extLst xmlns:a="http://schemas.openxmlformats.org/drawingml/2006/main">
              <a:ext uri="{FF2B5EF4-FFF2-40B4-BE49-F238E27FC236}">
                <a16:creationId xmlns:a16="http://schemas.microsoft.com/office/drawing/2014/main" id="{E5A9C80B-0EB6-4F57-BEED-FC1E38C2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4800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原文单元</a:t>
            </a:r>
          </a:p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哈希 / 锚点</a:t>
            </a:r>
          </a:p>
        </p:txBody>
      </p:sp>
      <p:sp>
        <p:nvSpPr>
          <p:cNvPr id="17" name="arch-node-2">
            <a:extLst xmlns:a="http://schemas.openxmlformats.org/drawingml/2006/main">
              <a:ext uri="{FF2B5EF4-FFF2-40B4-BE49-F238E27FC236}">
                <a16:creationId xmlns:a16="http://schemas.microsoft.com/office/drawing/2014/main" id="{EA85BA97-731F-4C7F-9281-8EF539D9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1200150" cy="16002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9F0FA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8" name="arch-head-2">
            <a:extLst xmlns:a="http://schemas.openxmlformats.org/drawingml/2006/main">
              <a:ext uri="{FF2B5EF4-FFF2-40B4-BE49-F238E27FC236}">
                <a16:creationId xmlns:a16="http://schemas.microsoft.com/office/drawing/2014/main" id="{82205BAF-B8BB-4903-AADE-906E120C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Factor</a:t>
            </a:r>
          </a:p>
        </p:txBody>
      </p:sp>
      <p:sp>
        <p:nvSpPr>
          <p:cNvPr id="19" name="arch-body-2">
            <a:extLst xmlns:a="http://schemas.openxmlformats.org/drawingml/2006/main">
              <a:ext uri="{FF2B5EF4-FFF2-40B4-BE49-F238E27FC236}">
                <a16:creationId xmlns:a16="http://schemas.microsoft.com/office/drawing/2014/main" id="{9BDE64D8-8C6D-4A55-AC61-7ECB2159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事实 / 维度</a:t>
            </a:r>
          </a:p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规则 / 状态</a:t>
            </a:r>
          </a:p>
        </p:txBody>
      </p:sp>
      <p:sp>
        <p:nvSpPr>
          <p:cNvPr id="20" name="arch-node-3">
            <a:extLst xmlns:a="http://schemas.openxmlformats.org/drawingml/2006/main">
              <a:ext uri="{FF2B5EF4-FFF2-40B4-BE49-F238E27FC236}">
                <a16:creationId xmlns:a16="http://schemas.microsoft.com/office/drawing/2014/main" id="{8B45A449-0701-4C9F-883D-CAF6A7C1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66950"/>
            <a:ext cx="1200150" cy="16002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21" name="arch-head-3">
            <a:extLst xmlns:a="http://schemas.openxmlformats.org/drawingml/2006/main">
              <a:ext uri="{FF2B5EF4-FFF2-40B4-BE49-F238E27FC236}">
                <a16:creationId xmlns:a16="http://schemas.microsoft.com/office/drawing/2014/main" id="{CB98DF4C-B07F-4C4F-8601-6B2CD8A4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765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Syntax</a:t>
            </a:r>
          </a:p>
        </p:txBody>
      </p:sp>
      <p:sp>
        <p:nvSpPr>
          <p:cNvPr id="22" name="arch-body-3">
            <a:extLst xmlns:a="http://schemas.openxmlformats.org/drawingml/2006/main">
              <a:ext uri="{FF2B5EF4-FFF2-40B4-BE49-F238E27FC236}">
                <a16:creationId xmlns:a16="http://schemas.microsoft.com/office/drawing/2014/main" id="{ADB1F541-B579-4FF3-852B-4DB4F1D7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4800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槽位 / AST</a:t>
            </a:r>
          </a:p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列与表达式契约</a:t>
            </a:r>
          </a:p>
        </p:txBody>
      </p:sp>
      <p:sp>
        <p:nvSpPr>
          <p:cNvPr id="23" name="arch-node-4">
            <a:extLst xmlns:a="http://schemas.openxmlformats.org/drawingml/2006/main">
              <a:ext uri="{FF2B5EF4-FFF2-40B4-BE49-F238E27FC236}">
                <a16:creationId xmlns:a16="http://schemas.microsoft.com/office/drawing/2014/main" id="{AD711644-4D49-4CFC-AE1A-F493AF31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1200150" cy="16002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24" name="arch-head-4">
            <a:extLst xmlns:a="http://schemas.openxmlformats.org/drawingml/2006/main">
              <a:ext uri="{FF2B5EF4-FFF2-40B4-BE49-F238E27FC236}">
                <a16:creationId xmlns:a16="http://schemas.microsoft.com/office/drawing/2014/main" id="{8AE9B7B5-9F5F-406D-A2A7-F48726A2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Manifest</a:t>
            </a:r>
          </a:p>
        </p:txBody>
      </p:sp>
      <p:sp>
        <p:nvSpPr>
          <p:cNvPr id="25" name="arch-body-4">
            <a:extLst xmlns:a="http://schemas.openxmlformats.org/drawingml/2006/main">
              <a:ext uri="{FF2B5EF4-FFF2-40B4-BE49-F238E27FC236}">
                <a16:creationId xmlns:a16="http://schemas.microsoft.com/office/drawing/2014/main" id="{6BF501CF-127C-4C92-AD35-06C78D8B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4800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绑定 / 策略</a:t>
            </a:r>
          </a:p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预期 / 约束</a:t>
            </a:r>
          </a:p>
        </p:txBody>
      </p:sp>
      <p:sp>
        <p:nvSpPr>
          <p:cNvPr id="26" name="arch-node-5">
            <a:extLst xmlns:a="http://schemas.openxmlformats.org/drawingml/2006/main">
              <a:ext uri="{FF2B5EF4-FFF2-40B4-BE49-F238E27FC236}">
                <a16:creationId xmlns:a16="http://schemas.microsoft.com/office/drawing/2014/main" id="{D60E806F-A72E-42A9-A795-9F25F395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1200150" cy="16002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27" name="arch-head-5">
            <a:extLst xmlns:a="http://schemas.openxmlformats.org/drawingml/2006/main">
              <a:ext uri="{FF2B5EF4-FFF2-40B4-BE49-F238E27FC236}">
                <a16:creationId xmlns:a16="http://schemas.microsoft.com/office/drawing/2014/main" id="{6329C43E-548F-45B3-B4B2-ED7B3456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Fixture</a:t>
            </a:r>
          </a:p>
        </p:txBody>
      </p:sp>
      <p:sp>
        <p:nvSpPr>
          <p:cNvPr id="28" name="arch-body-5">
            <a:extLst xmlns:a="http://schemas.openxmlformats.org/drawingml/2006/main">
              <a:ext uri="{FF2B5EF4-FFF2-40B4-BE49-F238E27FC236}">
                <a16:creationId xmlns:a16="http://schemas.microsoft.com/office/drawing/2014/main" id="{6097846E-C16D-4EA9-90E3-3E81367C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setup / seed</a:t>
            </a:r>
          </a:p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provides / teardown</a:t>
            </a:r>
          </a:p>
        </p:txBody>
      </p:sp>
      <p:sp>
        <p:nvSpPr>
          <p:cNvPr id="29" name="arch-node-6">
            <a:extLst xmlns:a="http://schemas.openxmlformats.org/drawingml/2006/main">
              <a:ext uri="{FF2B5EF4-FFF2-40B4-BE49-F238E27FC236}">
                <a16:creationId xmlns:a16="http://schemas.microsoft.com/office/drawing/2014/main" id="{1BC2611D-0AF6-4873-8847-2A6144F4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66950"/>
            <a:ext cx="1200150" cy="16002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9F0FA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30" name="arch-head-6">
            <a:extLst xmlns:a="http://schemas.openxmlformats.org/drawingml/2006/main">
              <a:ext uri="{FF2B5EF4-FFF2-40B4-BE49-F238E27FC236}">
                <a16:creationId xmlns:a16="http://schemas.microsoft.com/office/drawing/2014/main" id="{1A704753-B183-43CD-BA8B-6CA1ACF2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765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56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SQL + Oracle</a:t>
            </a:r>
          </a:p>
        </p:txBody>
      </p:sp>
      <p:sp>
        <p:nvSpPr>
          <p:cNvPr id="31" name="arch-body-6">
            <a:extLst xmlns:a="http://schemas.openxmlformats.org/drawingml/2006/main">
              <a:ext uri="{FF2B5EF4-FFF2-40B4-BE49-F238E27FC236}">
                <a16:creationId xmlns:a16="http://schemas.microsoft.com/office/drawing/2014/main" id="{EA3DC2B9-739D-410F-986F-0CB3CE1B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4800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生成 / Smoke</a:t>
            </a:r>
          </a:p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行为 / 元数据</a:t>
            </a:r>
          </a:p>
        </p:txBody>
      </p:sp>
      <p:sp>
        <p:nvSpPr>
          <p:cNvPr id="32" name="arch-ledger">
            <a:extLst xmlns:a="http://schemas.openxmlformats.org/drawingml/2006/main">
              <a:ext uri="{FF2B5EF4-FFF2-40B4-BE49-F238E27FC236}">
                <a16:creationId xmlns:a16="http://schemas.microsoft.com/office/drawing/2014/main" id="{C4CED18F-8D70-43ED-89D5-191BCF62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1021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覆盖审计贯穿全链路：原文是否有去向 → 规格字段是否被消费 → 可行 pair 是否覆盖 → Oracle 是否命中目标行为</a:t>
            </a:r>
          </a:p>
        </p:txBody>
      </p:sp>
      <p:sp>
        <p:nvSpPr>
          <p:cNvPr id="33" name="rule-104-572">
            <a:extLst xmlns:a="http://schemas.openxmlformats.org/drawingml/2006/main">
              <a:ext uri="{FF2B5EF4-FFF2-40B4-BE49-F238E27FC236}">
                <a16:creationId xmlns:a16="http://schemas.microsoft.com/office/drawing/2014/main" id="{73F156FE-0435-4C7A-8BDC-BE81CFEA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48300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34" name="arch-separation">
            <a:extLst xmlns:a="http://schemas.openxmlformats.org/drawingml/2006/main">
              <a:ext uri="{FF2B5EF4-FFF2-40B4-BE49-F238E27FC236}">
                <a16:creationId xmlns:a16="http://schemas.microsoft.com/office/drawing/2014/main" id="{7433EEB1-14D0-46CE-A831-441A5875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9595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语法冒烟与功能验证分离；单条 SQL 与多步骤生命周期分离；文档事实与环境能力分离。</a:t>
            </a:r>
          </a:p>
        </p:txBody>
      </p:sp>
    </p:spTree>
    <p:extLst>
      <p:ext uri="{BB962C8B-B14F-4D97-AF65-F5344CB8AC3E}">
        <p14:creationId xmlns:p14="http://schemas.microsoft.com/office/powerpoint/2010/main" val="9106238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-6">
            <a:extLst xmlns:a="http://schemas.openxmlformats.org/drawingml/2006/main">
              <a:ext uri="{FF2B5EF4-FFF2-40B4-BE49-F238E27FC236}">
                <a16:creationId xmlns:a16="http://schemas.microsoft.com/office/drawing/2014/main" id="{A2F31ACD-8728-47D0-AD95-B48685FE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05 · 规格职责边界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62DE186-11AB-4A87-87F1-DC27185A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一个因子包为什么需要七类文件</a:t>
            </a:r>
          </a:p>
        </p:txBody>
      </p:sp>
      <p:sp>
        <p:nvSpPr>
          <p:cNvPr id="3" name="rule-48-138">
            <a:extLst xmlns:a="http://schemas.openxmlformats.org/drawingml/2006/main">
              <a:ext uri="{FF2B5EF4-FFF2-40B4-BE49-F238E27FC236}">
                <a16:creationId xmlns:a16="http://schemas.microsoft.com/office/drawing/2014/main" id="{9F358563-7BC0-4935-9867-9A4A2C5F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2D75DF55-03EE-498E-B853-6FC33E4F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tree-panel">
            <a:extLst xmlns:a="http://schemas.openxmlformats.org/drawingml/2006/main">
              <a:ext uri="{FF2B5EF4-FFF2-40B4-BE49-F238E27FC236}">
                <a16:creationId xmlns:a16="http://schemas.microsoft.com/office/drawing/2014/main" id="{3F3BA91C-94B1-4FD2-BE06-F40EF15E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409575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6" name="tree">
            <a:extLst xmlns:a="http://schemas.openxmlformats.org/drawingml/2006/main">
              <a:ext uri="{FF2B5EF4-FFF2-40B4-BE49-F238E27FC236}">
                <a16:creationId xmlns:a16="http://schemas.microsoft.com/office/drawing/2014/main" id="{2AC937A5-7A34-4A1A-81A0-7BD7D38A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37528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specs/ddl/create_view/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create_view.source.yaml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create_view.factor.yaml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create_view.syntax.yaml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manifests/*.manifest.yaml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matrices/*.matrix.yaml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fixtures/*.fixture.yaml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scenarios/*.scenario.yaml</a:t>
            </a:r>
          </a:p>
        </p:txBody>
      </p:sp>
      <p:sp>
        <p:nvSpPr>
          <p:cNvPr id="7" name="pkg-tag-0-bg">
            <a:extLst xmlns:a="http://schemas.openxmlformats.org/drawingml/2006/main">
              <a:ext uri="{FF2B5EF4-FFF2-40B4-BE49-F238E27FC236}">
                <a16:creationId xmlns:a16="http://schemas.microsoft.com/office/drawing/2014/main" id="{24085327-FAA7-4ED0-A215-FACE5FA9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573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kg-tag-0">
            <a:extLst xmlns:a="http://schemas.openxmlformats.org/drawingml/2006/main">
              <a:ext uri="{FF2B5EF4-FFF2-40B4-BE49-F238E27FC236}">
                <a16:creationId xmlns:a16="http://schemas.microsoft.com/office/drawing/2014/main" id="{8C0A6384-8488-4821-B945-2D035AA0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049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source</a:t>
            </a:r>
          </a:p>
        </p:txBody>
      </p:sp>
      <p:sp>
        <p:nvSpPr>
          <p:cNvPr id="9" name="pkg-def-0">
            <a:extLst xmlns:a="http://schemas.openxmlformats.org/drawingml/2006/main">
              <a:ext uri="{FF2B5EF4-FFF2-40B4-BE49-F238E27FC236}">
                <a16:creationId xmlns:a16="http://schemas.microsoft.com/office/drawing/2014/main" id="{B4E7C797-97D7-4E25-B2EE-55BC3603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证明读过什么：原文单元、行号、锚点、处置状态。</a:t>
            </a:r>
          </a:p>
        </p:txBody>
      </p:sp>
      <p:sp>
        <p:nvSpPr>
          <p:cNvPr id="10" name="rule-538-228">
            <a:extLst xmlns:a="http://schemas.openxmlformats.org/drawingml/2006/main">
              <a:ext uri="{FF2B5EF4-FFF2-40B4-BE49-F238E27FC236}">
                <a16:creationId xmlns:a16="http://schemas.microsoft.com/office/drawing/2014/main" id="{7BD27475-F944-443E-B448-CE6F1974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71700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1" name="pkg-tag-1-bg">
            <a:extLst xmlns:a="http://schemas.openxmlformats.org/drawingml/2006/main">
              <a:ext uri="{FF2B5EF4-FFF2-40B4-BE49-F238E27FC236}">
                <a16:creationId xmlns:a16="http://schemas.microsoft.com/office/drawing/2014/main" id="{0784AF44-765E-48CD-981D-E7F88BB1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76475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kg-tag-1">
            <a:extLst xmlns:a="http://schemas.openxmlformats.org/drawingml/2006/main">
              <a:ext uri="{FF2B5EF4-FFF2-40B4-BE49-F238E27FC236}">
                <a16:creationId xmlns:a16="http://schemas.microsoft.com/office/drawing/2014/main" id="{E436DA55-3F2A-4AB9-87F1-3EA30EC4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241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factor</a:t>
            </a:r>
          </a:p>
        </p:txBody>
      </p:sp>
      <p:sp>
        <p:nvSpPr>
          <p:cNvPr id="13" name="pkg-def-1">
            <a:extLst xmlns:a="http://schemas.openxmlformats.org/drawingml/2006/main">
              <a:ext uri="{FF2B5EF4-FFF2-40B4-BE49-F238E27FC236}">
                <a16:creationId xmlns:a16="http://schemas.microsoft.com/office/drawing/2014/main" id="{0BED1E9F-3F06-4902-805F-A425568D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95525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表达知道什么：事实、维度、值、约束、引用关系。</a:t>
            </a:r>
          </a:p>
        </p:txBody>
      </p:sp>
      <p:sp>
        <p:nvSpPr>
          <p:cNvPr id="14" name="rule-538-293">
            <a:extLst xmlns:a="http://schemas.openxmlformats.org/drawingml/2006/main">
              <a:ext uri="{FF2B5EF4-FFF2-40B4-BE49-F238E27FC236}">
                <a16:creationId xmlns:a16="http://schemas.microsoft.com/office/drawing/2014/main" id="{22221B99-1640-40AF-9019-C1ACE2E5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90825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5" name="pkg-tag-2-bg">
            <a:extLst xmlns:a="http://schemas.openxmlformats.org/drawingml/2006/main">
              <a:ext uri="{FF2B5EF4-FFF2-40B4-BE49-F238E27FC236}">
                <a16:creationId xmlns:a16="http://schemas.microsoft.com/office/drawing/2014/main" id="{8C66AE41-FB05-4D99-B7EC-09653356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956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kg-tag-2">
            <a:extLst xmlns:a="http://schemas.openxmlformats.org/drawingml/2006/main">
              <a:ext uri="{FF2B5EF4-FFF2-40B4-BE49-F238E27FC236}">
                <a16:creationId xmlns:a16="http://schemas.microsoft.com/office/drawing/2014/main" id="{57763733-49E4-4640-8BEF-FBCDF58A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432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syntax</a:t>
            </a:r>
          </a:p>
        </p:txBody>
      </p:sp>
      <p:sp>
        <p:nvSpPr>
          <p:cNvPr id="17" name="pkg-def-2">
            <a:extLst xmlns:a="http://schemas.openxmlformats.org/drawingml/2006/main">
              <a:ext uri="{FF2B5EF4-FFF2-40B4-BE49-F238E27FC236}">
                <a16:creationId xmlns:a16="http://schemas.microsoft.com/office/drawing/2014/main" id="{FE6CE138-ACFF-44A0-97EE-00F5E5ED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规定怎样成句：顶层产生式、递归 AST、槽位契约。</a:t>
            </a:r>
          </a:p>
        </p:txBody>
      </p:sp>
      <p:sp>
        <p:nvSpPr>
          <p:cNvPr id="18" name="rule-538-358">
            <a:extLst xmlns:a="http://schemas.openxmlformats.org/drawingml/2006/main">
              <a:ext uri="{FF2B5EF4-FFF2-40B4-BE49-F238E27FC236}">
                <a16:creationId xmlns:a16="http://schemas.microsoft.com/office/drawing/2014/main" id="{DBDBFF02-4CBF-42A5-81FC-047C2C1C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09950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9" name="pkg-tag-3-bg">
            <a:extLst xmlns:a="http://schemas.openxmlformats.org/drawingml/2006/main">
              <a:ext uri="{FF2B5EF4-FFF2-40B4-BE49-F238E27FC236}">
                <a16:creationId xmlns:a16="http://schemas.microsoft.com/office/drawing/2014/main" id="{047D1942-3621-4309-A3CF-B57406F7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14725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kg-tag-3">
            <a:extLst xmlns:a="http://schemas.openxmlformats.org/drawingml/2006/main">
              <a:ext uri="{FF2B5EF4-FFF2-40B4-BE49-F238E27FC236}">
                <a16:creationId xmlns:a16="http://schemas.microsoft.com/office/drawing/2014/main" id="{3DEBFF5D-68C3-439F-929E-94D480F9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623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manifest</a:t>
            </a:r>
          </a:p>
        </p:txBody>
      </p:sp>
      <p:sp>
        <p:nvSpPr>
          <p:cNvPr id="21" name="pkg-def-3">
            <a:extLst xmlns:a="http://schemas.openxmlformats.org/drawingml/2006/main">
              <a:ext uri="{FF2B5EF4-FFF2-40B4-BE49-F238E27FC236}">
                <a16:creationId xmlns:a16="http://schemas.microsoft.com/office/drawing/2014/main" id="{C79F3B32-927C-4602-988A-2A8586AD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33775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决定这次测什么：值域、策略、优先级、expected。</a:t>
            </a:r>
          </a:p>
        </p:txBody>
      </p:sp>
      <p:sp>
        <p:nvSpPr>
          <p:cNvPr id="22" name="rule-538-423">
            <a:extLst xmlns:a="http://schemas.openxmlformats.org/drawingml/2006/main">
              <a:ext uri="{FF2B5EF4-FFF2-40B4-BE49-F238E27FC236}">
                <a16:creationId xmlns:a16="http://schemas.microsoft.com/office/drawing/2014/main" id="{8B4EF5AC-235B-4249-943D-F7BBA983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29075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23" name="pkg-tag-4-bg">
            <a:extLst xmlns:a="http://schemas.openxmlformats.org/drawingml/2006/main">
              <a:ext uri="{FF2B5EF4-FFF2-40B4-BE49-F238E27FC236}">
                <a16:creationId xmlns:a16="http://schemas.microsoft.com/office/drawing/2014/main" id="{F3409CD6-7158-4472-8F76-BED10D0B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338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kg-tag-4">
            <a:extLst xmlns:a="http://schemas.openxmlformats.org/drawingml/2006/main">
              <a:ext uri="{FF2B5EF4-FFF2-40B4-BE49-F238E27FC236}">
                <a16:creationId xmlns:a16="http://schemas.microsoft.com/office/drawing/2014/main" id="{6C9671C6-46D4-43A5-833A-38493DAE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814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matrix</a:t>
            </a:r>
          </a:p>
        </p:txBody>
      </p:sp>
      <p:sp>
        <p:nvSpPr>
          <p:cNvPr id="25" name="pkg-def-4">
            <a:extLst xmlns:a="http://schemas.openxmlformats.org/drawingml/2006/main">
              <a:ext uri="{FF2B5EF4-FFF2-40B4-BE49-F238E27FC236}">
                <a16:creationId xmlns:a16="http://schemas.microsoft.com/office/drawing/2014/main" id="{4900EA47-45AE-443F-BACA-3F8CC8D6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描述环境能做什么：版本、表类型、索引方法与特性兼容。</a:t>
            </a:r>
          </a:p>
        </p:txBody>
      </p:sp>
      <p:sp>
        <p:nvSpPr>
          <p:cNvPr id="26" name="rule-538-488">
            <a:extLst xmlns:a="http://schemas.openxmlformats.org/drawingml/2006/main">
              <a:ext uri="{FF2B5EF4-FFF2-40B4-BE49-F238E27FC236}">
                <a16:creationId xmlns:a16="http://schemas.microsoft.com/office/drawing/2014/main" id="{A88EDA49-D8B7-425D-B00A-487979BE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48200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27" name="pkg-tag-5-bg">
            <a:extLst xmlns:a="http://schemas.openxmlformats.org/drawingml/2006/main">
              <a:ext uri="{FF2B5EF4-FFF2-40B4-BE49-F238E27FC236}">
                <a16:creationId xmlns:a16="http://schemas.microsoft.com/office/drawing/2014/main" id="{4B53B617-370B-4E63-B490-BD7DAF5B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52975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kg-tag-5">
            <a:extLst xmlns:a="http://schemas.openxmlformats.org/drawingml/2006/main">
              <a:ext uri="{FF2B5EF4-FFF2-40B4-BE49-F238E27FC236}">
                <a16:creationId xmlns:a16="http://schemas.microsoft.com/office/drawing/2014/main" id="{BEC3EF64-677A-4D05-9E79-D4CB41DF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006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fixture</a:t>
            </a:r>
          </a:p>
        </p:txBody>
      </p:sp>
      <p:sp>
        <p:nvSpPr>
          <p:cNvPr id="29" name="pkg-def-5">
            <a:extLst xmlns:a="http://schemas.openxmlformats.org/drawingml/2006/main">
              <a:ext uri="{FF2B5EF4-FFF2-40B4-BE49-F238E27FC236}">
                <a16:creationId xmlns:a16="http://schemas.microsoft.com/office/drawing/2014/main" id="{9AE07F6D-C146-4C64-BDC5-0A20F63B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72025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提供 SQL 依赖什么：对象、列、种子数据、回收。</a:t>
            </a:r>
          </a:p>
        </p:txBody>
      </p:sp>
      <p:sp>
        <p:nvSpPr>
          <p:cNvPr id="30" name="rule-538-553">
            <a:extLst xmlns:a="http://schemas.openxmlformats.org/drawingml/2006/main">
              <a:ext uri="{FF2B5EF4-FFF2-40B4-BE49-F238E27FC236}">
                <a16:creationId xmlns:a16="http://schemas.microsoft.com/office/drawing/2014/main" id="{E0327467-35E5-4FDC-AB14-2147FDA2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67325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31" name="pkg-tag-6-bg">
            <a:extLst xmlns:a="http://schemas.openxmlformats.org/drawingml/2006/main">
              <a:ext uri="{FF2B5EF4-FFF2-40B4-BE49-F238E27FC236}">
                <a16:creationId xmlns:a16="http://schemas.microsoft.com/office/drawing/2014/main" id="{55E1CFCD-CEDD-427A-871D-925DE642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721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kg-tag-6">
            <a:extLst xmlns:a="http://schemas.openxmlformats.org/drawingml/2006/main">
              <a:ext uri="{FF2B5EF4-FFF2-40B4-BE49-F238E27FC236}">
                <a16:creationId xmlns:a16="http://schemas.microsoft.com/office/drawing/2014/main" id="{D058690E-DD30-4AAD-AEEA-FB85C47A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4197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804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804A"/>
                </a:solidFill>
                <a:latin typeface="PingFang SC"/>
                <a:ea typeface="PingFang SC"/>
                <a:cs typeface="PingFang SC"/>
              </a:rPr>
              <a:t>scenario</a:t>
            </a:r>
          </a:p>
        </p:txBody>
      </p:sp>
      <p:sp>
        <p:nvSpPr>
          <p:cNvPr id="33" name="pkg-def-6">
            <a:extLst xmlns:a="http://schemas.openxmlformats.org/drawingml/2006/main">
              <a:ext uri="{FF2B5EF4-FFF2-40B4-BE49-F238E27FC236}">
                <a16:creationId xmlns:a16="http://schemas.microsoft.com/office/drawing/2014/main" id="{AFAB06EF-6CE5-480D-9AE6-986967ED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911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证明单条 SQL 证明不了的行为：生命周期、权限、元数据。</a:t>
            </a:r>
          </a:p>
        </p:txBody>
      </p:sp>
      <p:sp>
        <p:nvSpPr>
          <p:cNvPr id="34" name="pkg-rule">
            <a:extLst xmlns:a="http://schemas.openxmlformats.org/drawingml/2006/main">
              <a:ext uri="{FF2B5EF4-FFF2-40B4-BE49-F238E27FC236}">
                <a16:creationId xmlns:a16="http://schemas.microsoft.com/office/drawing/2014/main" id="{A744AD50-E1D1-463B-8B28-3CD37BFD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038850"/>
            <a:ext cx="634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6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单一事实源原则：同一条规则只在一个层级定义，其他文件通过 ID 引用。</a:t>
            </a:r>
          </a:p>
        </p:txBody>
      </p:sp>
    </p:spTree>
    <p:extLst>
      <p:ext uri="{BB962C8B-B14F-4D97-AF65-F5344CB8AC3E}">
        <p14:creationId xmlns:p14="http://schemas.microsoft.com/office/powerpoint/2010/main" val="6861824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7">
            <a:extLst xmlns:a="http://schemas.openxmlformats.org/drawingml/2006/main">
              <a:ext uri="{FF2B5EF4-FFF2-40B4-BE49-F238E27FC236}">
                <a16:creationId xmlns:a16="http://schemas.microsoft.com/office/drawing/2014/main" id="{A986AEA9-5378-4258-9035-07189BFB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06 · 具体机制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457594B-0505-4A44-9EFC-887C42F4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以 CREATE VIEW 为例：一段原文如何变成可验证用例</a:t>
            </a:r>
          </a:p>
        </p:txBody>
      </p:sp>
      <p:sp>
        <p:nvSpPr>
          <p:cNvPr id="3" name="rule-48-138">
            <a:extLst xmlns:a="http://schemas.openxmlformats.org/drawingml/2006/main">
              <a:ext uri="{FF2B5EF4-FFF2-40B4-BE49-F238E27FC236}">
                <a16:creationId xmlns:a16="http://schemas.microsoft.com/office/drawing/2014/main" id="{1447F6E1-653D-43C4-8B24-90389FD6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72A4F6DE-5D93-43DE-A670-C630B9AD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ex-step-0">
            <a:extLst xmlns:a="http://schemas.openxmlformats.org/drawingml/2006/main">
              <a:ext uri="{FF2B5EF4-FFF2-40B4-BE49-F238E27FC236}">
                <a16:creationId xmlns:a16="http://schemas.microsoft.com/office/drawing/2014/main" id="{D7806A45-0BCC-4E34-8B85-A2EC8C24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ex-head-0">
            <a:extLst xmlns:a="http://schemas.openxmlformats.org/drawingml/2006/main">
              <a:ext uri="{FF2B5EF4-FFF2-40B4-BE49-F238E27FC236}">
                <a16:creationId xmlns:a16="http://schemas.microsoft.com/office/drawing/2014/main" id="{9A622071-00C6-49EB-AF0C-901BBE12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383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原文事实</a:t>
            </a:r>
          </a:p>
        </p:txBody>
      </p:sp>
      <p:sp>
        <p:nvSpPr>
          <p:cNvPr id="7" name="ex-body-0">
            <a:extLst xmlns:a="http://schemas.openxmlformats.org/drawingml/2006/main">
              <a:ext uri="{FF2B5EF4-FFF2-40B4-BE49-F238E27FC236}">
                <a16:creationId xmlns:a16="http://schemas.microsoft.com/office/drawing/2014/main" id="{74A1A990-82C1-4C81-BDED-89029CED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830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WITH CHECK OPTION 只适用于可更新视图。</a:t>
            </a:r>
          </a:p>
        </p:txBody>
      </p:sp>
      <p:sp>
        <p:nvSpPr>
          <p:cNvPr id="8" name="rule-58-232">
            <a:extLst xmlns:a="http://schemas.openxmlformats.org/drawingml/2006/main">
              <a:ext uri="{FF2B5EF4-FFF2-40B4-BE49-F238E27FC236}">
                <a16:creationId xmlns:a16="http://schemas.microsoft.com/office/drawing/2014/main" id="{537E72CE-4985-4E9F-B20E-46EB2F24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9" name="ex-step-1">
            <a:extLst xmlns:a="http://schemas.openxmlformats.org/drawingml/2006/main">
              <a:ext uri="{FF2B5EF4-FFF2-40B4-BE49-F238E27FC236}">
                <a16:creationId xmlns:a16="http://schemas.microsoft.com/office/drawing/2014/main" id="{296BD6A7-E5DF-4B39-BA8F-FFA71B0F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ex-head-1">
            <a:extLst xmlns:a="http://schemas.openxmlformats.org/drawingml/2006/main">
              <a:ext uri="{FF2B5EF4-FFF2-40B4-BE49-F238E27FC236}">
                <a16:creationId xmlns:a16="http://schemas.microsoft.com/office/drawing/2014/main" id="{846A48B0-EDE9-4F0D-BAC7-9FDC4471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因子维度</a:t>
            </a:r>
          </a:p>
        </p:txBody>
      </p:sp>
      <p:sp>
        <p:nvSpPr>
          <p:cNvPr id="11" name="ex-body-1">
            <a:extLst xmlns:a="http://schemas.openxmlformats.org/drawingml/2006/main">
              <a:ext uri="{FF2B5EF4-FFF2-40B4-BE49-F238E27FC236}">
                <a16:creationId xmlns:a16="http://schemas.microsoft.com/office/drawing/2014/main" id="{6693F31B-D15E-4D81-9EDF-B96027DB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7650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query_profile × check_option × force_modifier</a:t>
            </a:r>
          </a:p>
        </p:txBody>
      </p:sp>
      <p:sp>
        <p:nvSpPr>
          <p:cNvPr id="12" name="rule-58-320">
            <a:extLst xmlns:a="http://schemas.openxmlformats.org/drawingml/2006/main">
              <a:ext uri="{FF2B5EF4-FFF2-40B4-BE49-F238E27FC236}">
                <a16:creationId xmlns:a16="http://schemas.microsoft.com/office/drawing/2014/main" id="{F1B63CDC-A5E4-427C-9547-30CB9A07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3" name="ex-step-2">
            <a:extLst xmlns:a="http://schemas.openxmlformats.org/drawingml/2006/main">
              <a:ext uri="{FF2B5EF4-FFF2-40B4-BE49-F238E27FC236}">
                <a16:creationId xmlns:a16="http://schemas.microsoft.com/office/drawing/2014/main" id="{F178852E-B6E6-4D65-8D6E-B48FF74B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ex-head-2">
            <a:extLst xmlns:a="http://schemas.openxmlformats.org/drawingml/2006/main">
              <a:ext uri="{FF2B5EF4-FFF2-40B4-BE49-F238E27FC236}">
                <a16:creationId xmlns:a16="http://schemas.microsoft.com/office/drawing/2014/main" id="{01CCB439-952A-4C7D-AA4E-CB3E608C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规则</a:t>
            </a:r>
          </a:p>
        </p:txBody>
      </p:sp>
      <p:sp>
        <p:nvSpPr>
          <p:cNvPr id="15" name="ex-body-2">
            <a:extLst xmlns:a="http://schemas.openxmlformats.org/drawingml/2006/main">
              <a:ext uri="{FF2B5EF4-FFF2-40B4-BE49-F238E27FC236}">
                <a16:creationId xmlns:a16="http://schemas.microsoft.com/office/drawing/2014/main" id="{CC445293-5DEE-4196-BCDF-9965160A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1470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不可更新查询 + CHECK OPTION → 目标失败</a:t>
            </a:r>
          </a:p>
        </p:txBody>
      </p:sp>
      <p:sp>
        <p:nvSpPr>
          <p:cNvPr id="16" name="rule-58-408">
            <a:extLst xmlns:a="http://schemas.openxmlformats.org/drawingml/2006/main">
              <a:ext uri="{FF2B5EF4-FFF2-40B4-BE49-F238E27FC236}">
                <a16:creationId xmlns:a16="http://schemas.microsoft.com/office/drawing/2014/main" id="{7941538D-D02E-4873-80A7-9636799A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7" name="ex-step-3">
            <a:extLst xmlns:a="http://schemas.openxmlformats.org/drawingml/2006/main">
              <a:ext uri="{FF2B5EF4-FFF2-40B4-BE49-F238E27FC236}">
                <a16:creationId xmlns:a16="http://schemas.microsoft.com/office/drawing/2014/main" id="{35EB649B-9FAF-4CC5-B6EB-A7486664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ex-head-3">
            <a:extLst xmlns:a="http://schemas.openxmlformats.org/drawingml/2006/main">
              <a:ext uri="{FF2B5EF4-FFF2-40B4-BE49-F238E27FC236}">
                <a16:creationId xmlns:a16="http://schemas.microsoft.com/office/drawing/2014/main" id="{2B72FF7B-93CD-44C7-88BD-DCB0D6DF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Fixture</a:t>
            </a:r>
          </a:p>
        </p:txBody>
      </p:sp>
      <p:sp>
        <p:nvSpPr>
          <p:cNvPr id="19" name="ex-body-3">
            <a:extLst xmlns:a="http://schemas.openxmlformats.org/drawingml/2006/main">
              <a:ext uri="{FF2B5EF4-FFF2-40B4-BE49-F238E27FC236}">
                <a16:creationId xmlns:a16="http://schemas.microsoft.com/office/drawing/2014/main" id="{40DD827E-0686-4E75-9D7C-F1339493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5290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两列源表 + 兼容列名 + seed 数据</a:t>
            </a:r>
          </a:p>
        </p:txBody>
      </p:sp>
      <p:sp>
        <p:nvSpPr>
          <p:cNvPr id="20" name="rule-58-496">
            <a:extLst xmlns:a="http://schemas.openxmlformats.org/drawingml/2006/main">
              <a:ext uri="{FF2B5EF4-FFF2-40B4-BE49-F238E27FC236}">
                <a16:creationId xmlns:a16="http://schemas.microsoft.com/office/drawing/2014/main" id="{57ACB750-69E4-4DAF-85FF-DB0C2095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21" name="ex-step-4">
            <a:extLst xmlns:a="http://schemas.openxmlformats.org/drawingml/2006/main">
              <a:ext uri="{FF2B5EF4-FFF2-40B4-BE49-F238E27FC236}">
                <a16:creationId xmlns:a16="http://schemas.microsoft.com/office/drawing/2014/main" id="{10E7827A-3C69-4244-91A4-CE083155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ex-head-4">
            <a:extLst xmlns:a="http://schemas.openxmlformats.org/drawingml/2006/main">
              <a:ext uri="{FF2B5EF4-FFF2-40B4-BE49-F238E27FC236}">
                <a16:creationId xmlns:a16="http://schemas.microsoft.com/office/drawing/2014/main" id="{DA514DDA-CFC7-4A99-B698-B04CD439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911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Oracle</a:t>
            </a:r>
          </a:p>
        </p:txBody>
      </p:sp>
      <p:sp>
        <p:nvSpPr>
          <p:cNvPr id="23" name="ex-body-4">
            <a:extLst xmlns:a="http://schemas.openxmlformats.org/drawingml/2006/main">
              <a:ext uri="{FF2B5EF4-FFF2-40B4-BE49-F238E27FC236}">
                <a16:creationId xmlns:a16="http://schemas.microsoft.com/office/drawing/2014/main" id="{A44D1E7B-8210-4021-AE1E-69D897AC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9110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success / 目标 SQLSTATE / 目录状态</a:t>
            </a:r>
          </a:p>
        </p:txBody>
      </p:sp>
      <p:sp>
        <p:nvSpPr>
          <p:cNvPr id="24" name="ex-sql-panel">
            <a:extLst xmlns:a="http://schemas.openxmlformats.org/drawingml/2006/main">
              <a:ext uri="{FF2B5EF4-FFF2-40B4-BE49-F238E27FC236}">
                <a16:creationId xmlns:a16="http://schemas.microsoft.com/office/drawing/2014/main" id="{DE3C6EAE-6C95-4E8C-BA53-665F9F47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76400"/>
            <a:ext cx="50482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25" name="ex-sql">
            <a:extLst xmlns:a="http://schemas.openxmlformats.org/drawingml/2006/main">
              <a:ext uri="{FF2B5EF4-FFF2-40B4-BE49-F238E27FC236}">
                <a16:creationId xmlns:a16="http://schemas.microsoft.com/office/drawing/2014/main" id="{810372FC-7070-486C-B47B-3DD10988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28800"/>
            <a:ext cx="47053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-- positive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CREATE VIEW v_factor_test (c1, c2) AS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SELECT col_1, col_2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t_factor_test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WHERE col_1 &gt; 0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WITH CASCADED CHECK OPTION;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-- negative profile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CREATE VIEW v_bad AS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SELECT DISTINCT col_1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t_factor_test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WITH CHECK OPTION;</a:t>
            </a:r>
          </a:p>
        </p:txBody>
      </p:sp>
      <p:sp>
        <p:nvSpPr>
          <p:cNvPr id="26" name="ex-point">
            <a:extLst xmlns:a="http://schemas.openxmlformats.org/drawingml/2006/main">
              <a:ext uri="{FF2B5EF4-FFF2-40B4-BE49-F238E27FC236}">
                <a16:creationId xmlns:a16="http://schemas.microsoft.com/office/drawing/2014/main" id="{1BB9E21D-4535-44E1-8F37-5BBD16A8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340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同一事实同时约束正向生成、负向反例与行为 Oracle；SQL 只是最终渲染结果。</a:t>
            </a:r>
          </a:p>
        </p:txBody>
      </p:sp>
    </p:spTree>
    <p:extLst>
      <p:ext uri="{BB962C8B-B14F-4D97-AF65-F5344CB8AC3E}">
        <p14:creationId xmlns:p14="http://schemas.microsoft.com/office/powerpoint/2010/main" val="16442544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8">
            <a:extLst xmlns:a="http://schemas.openxmlformats.org/drawingml/2006/main">
              <a:ext uri="{FF2B5EF4-FFF2-40B4-BE49-F238E27FC236}">
                <a16:creationId xmlns:a16="http://schemas.microsoft.com/office/drawing/2014/main" id="{67C74546-A54B-4A4C-96D5-07D942C6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07 · 生成正确性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81FA00F-8819-494A-825E-50925586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生成器的核心不是“组合”，而是“只覆盖可行组合”</a:t>
            </a:r>
          </a:p>
        </p:txBody>
      </p:sp>
      <p:sp>
        <p:nvSpPr>
          <p:cNvPr id="3" name="rule-48-138">
            <a:extLst xmlns:a="http://schemas.openxmlformats.org/drawingml/2006/main">
              <a:ext uri="{FF2B5EF4-FFF2-40B4-BE49-F238E27FC236}">
                <a16:creationId xmlns:a16="http://schemas.microsoft.com/office/drawing/2014/main" id="{EAE7F92A-85A8-4718-9567-796B120A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B1BE7BEF-61A5-4726-8E8A-0A5BA001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cartesian">
            <a:extLst xmlns:a="http://schemas.openxmlformats.org/drawingml/2006/main">
              <a:ext uri="{FF2B5EF4-FFF2-40B4-BE49-F238E27FC236}">
                <a16:creationId xmlns:a16="http://schemas.microsoft.com/office/drawing/2014/main" id="{EF88CC34-0285-47F9-BE9A-ED2B0B7B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3371850" cy="35623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0D4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6" name="cart-title">
            <a:extLst xmlns:a="http://schemas.openxmlformats.org/drawingml/2006/main">
              <a:ext uri="{FF2B5EF4-FFF2-40B4-BE49-F238E27FC236}">
                <a16:creationId xmlns:a16="http://schemas.microsoft.com/office/drawing/2014/main" id="{CC66944A-8625-4867-B0AC-7BEEFF0F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盲目笛卡尔积</a:t>
            </a:r>
          </a:p>
        </p:txBody>
      </p:sp>
      <p:sp>
        <p:nvSpPr>
          <p:cNvPr id="7" name="cart-num">
            <a:extLst xmlns:a="http://schemas.openxmlformats.org/drawingml/2006/main">
              <a:ext uri="{FF2B5EF4-FFF2-40B4-BE49-F238E27FC236}">
                <a16:creationId xmlns:a16="http://schemas.microsoft.com/office/drawing/2014/main" id="{80F01510-D460-41DD-91F4-441AC132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783,807,360</a:t>
            </a:r>
          </a:p>
        </p:txBody>
      </p:sp>
      <p:sp>
        <p:nvSpPr>
          <p:cNvPr id="8" name="cart-label">
            <a:extLst xmlns:a="http://schemas.openxmlformats.org/drawingml/2006/main">
              <a:ext uri="{FF2B5EF4-FFF2-40B4-BE49-F238E27FC236}">
                <a16:creationId xmlns:a16="http://schemas.microsoft.com/office/drawing/2014/main" id="{DE8EFE65-1A68-4685-9021-8E616596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某大型 manifest 的理论组合数</a:t>
            </a:r>
          </a:p>
        </p:txBody>
      </p:sp>
      <p:sp>
        <p:nvSpPr>
          <p:cNvPr id="9" name="cart-list">
            <a:extLst xmlns:a="http://schemas.openxmlformats.org/drawingml/2006/main">
              <a:ext uri="{FF2B5EF4-FFF2-40B4-BE49-F238E27FC236}">
                <a16:creationId xmlns:a16="http://schemas.microsoft.com/office/drawing/2014/main" id="{700159EB-B3D7-4A02-B041-1BF9D763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大量组合语义非法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运行时间与存储不可接受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数量变大但覆盖结论不可信</a:t>
            </a:r>
          </a:p>
        </p:txBody>
      </p:sp>
      <p:sp>
        <p:nvSpPr>
          <p:cNvPr id="10" name="arrow-438-344">
            <a:extLst xmlns:a="http://schemas.openxmlformats.org/drawingml/2006/main">
              <a:ext uri="{FF2B5EF4-FFF2-40B4-BE49-F238E27FC236}">
                <a16:creationId xmlns:a16="http://schemas.microsoft.com/office/drawing/2014/main" id="{0A15D9E7-6937-431E-A5A1-AF605138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7660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easible">
            <a:extLst xmlns:a="http://schemas.openxmlformats.org/drawingml/2006/main">
              <a:ext uri="{FF2B5EF4-FFF2-40B4-BE49-F238E27FC236}">
                <a16:creationId xmlns:a16="http://schemas.microsoft.com/office/drawing/2014/main" id="{B7115524-B04A-4D2A-8587-8FFA8E6A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95450"/>
            <a:ext cx="64579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D9F0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feasible-title">
            <a:extLst xmlns:a="http://schemas.openxmlformats.org/drawingml/2006/main">
              <a:ext uri="{FF2B5EF4-FFF2-40B4-BE49-F238E27FC236}">
                <a16:creationId xmlns:a16="http://schemas.microsoft.com/office/drawing/2014/main" id="{6ECFB9D5-64A7-449E-8A71-A4AB894D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812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约束感知 Pairwise</a:t>
            </a:r>
          </a:p>
        </p:txBody>
      </p:sp>
      <p:sp>
        <p:nvSpPr>
          <p:cNvPr id="13" name="guard-h-0">
            <a:extLst xmlns:a="http://schemas.openxmlformats.org/drawingml/2006/main">
              <a:ext uri="{FF2B5EF4-FFF2-40B4-BE49-F238E27FC236}">
                <a16:creationId xmlns:a16="http://schemas.microsoft.com/office/drawing/2014/main" id="{7E828353-7B74-401F-9073-E4E30D2A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67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① 严格加载</a:t>
            </a:r>
          </a:p>
        </p:txBody>
      </p:sp>
      <p:sp>
        <p:nvSpPr>
          <p:cNvPr id="14" name="guard-b-0">
            <a:extLst xmlns:a="http://schemas.openxmlformats.org/drawingml/2006/main">
              <a:ext uri="{FF2B5EF4-FFF2-40B4-BE49-F238E27FC236}">
                <a16:creationId xmlns:a16="http://schemas.microsoft.com/office/drawing/2014/main" id="{D082226D-F511-46FC-82EC-A27AA412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480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未知字段、非法约束、重复 ID 直接失败</a:t>
            </a:r>
          </a:p>
        </p:txBody>
      </p:sp>
      <p:sp>
        <p:nvSpPr>
          <p:cNvPr id="15" name="guard-h-1">
            <a:extLst xmlns:a="http://schemas.openxmlformats.org/drawingml/2006/main">
              <a:ext uri="{FF2B5EF4-FFF2-40B4-BE49-F238E27FC236}">
                <a16:creationId xmlns:a16="http://schemas.microsoft.com/office/drawing/2014/main" id="{7E425EC1-8BB7-4AFF-8794-51D5A483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67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② 可行空间</a:t>
            </a:r>
          </a:p>
        </p:txBody>
      </p:sp>
      <p:sp>
        <p:nvSpPr>
          <p:cNvPr id="16" name="guard-b-1">
            <a:extLst xmlns:a="http://schemas.openxmlformats.org/drawingml/2006/main">
              <a:ext uri="{FF2B5EF4-FFF2-40B4-BE49-F238E27FC236}">
                <a16:creationId xmlns:a16="http://schemas.microsoft.com/office/drawing/2014/main" id="{304808E7-42CC-491C-A43F-3E97CDA8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先过滤约束，再计算理论可行 pair 集</a:t>
            </a:r>
          </a:p>
        </p:txBody>
      </p:sp>
      <p:sp>
        <p:nvSpPr>
          <p:cNvPr id="17" name="guard-h-2">
            <a:extLst xmlns:a="http://schemas.openxmlformats.org/drawingml/2006/main">
              <a:ext uri="{FF2B5EF4-FFF2-40B4-BE49-F238E27FC236}">
                <a16:creationId xmlns:a16="http://schemas.microsoft.com/office/drawing/2014/main" id="{93FE4B57-EE61-4339-A6CA-ADD4C924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10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③ 完整后置条件</a:t>
            </a:r>
          </a:p>
        </p:txBody>
      </p:sp>
      <p:sp>
        <p:nvSpPr>
          <p:cNvPr id="18" name="guard-b-2">
            <a:extLst xmlns:a="http://schemas.openxmlformats.org/drawingml/2006/main">
              <a:ext uri="{FF2B5EF4-FFF2-40B4-BE49-F238E27FC236}">
                <a16:creationId xmlns:a16="http://schemas.microsoft.com/office/drawing/2014/main" id="{90EADD32-8180-4F8C-BC76-65473168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910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理论 pair = 实际覆盖；缺失列表必须为空</a:t>
            </a:r>
          </a:p>
        </p:txBody>
      </p:sp>
      <p:sp>
        <p:nvSpPr>
          <p:cNvPr id="19" name="guard-h-3">
            <a:extLst xmlns:a="http://schemas.openxmlformats.org/drawingml/2006/main">
              <a:ext uri="{FF2B5EF4-FFF2-40B4-BE49-F238E27FC236}">
                <a16:creationId xmlns:a16="http://schemas.microsoft.com/office/drawing/2014/main" id="{FB3162AF-166A-4136-B8BA-113182E5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10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④ 语义契约</a:t>
            </a:r>
          </a:p>
        </p:txBody>
      </p:sp>
      <p:sp>
        <p:nvSpPr>
          <p:cNvPr id="20" name="guard-b-3">
            <a:extLst xmlns:a="http://schemas.openxmlformats.org/drawingml/2006/main">
              <a:ext uri="{FF2B5EF4-FFF2-40B4-BE49-F238E27FC236}">
                <a16:creationId xmlns:a16="http://schemas.microsoft.com/office/drawing/2014/main" id="{AD9CBA95-2768-4265-A4AE-B3B05CF6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910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投影列、GROUP BY、ORDER BY、集合列数/类型兼容</a:t>
            </a:r>
          </a:p>
        </p:txBody>
      </p:sp>
      <p:sp>
        <p:nvSpPr>
          <p:cNvPr id="21" name="correctness-bottom">
            <a:extLst xmlns:a="http://schemas.openxmlformats.org/drawingml/2006/main">
              <a:ext uri="{FF2B5EF4-FFF2-40B4-BE49-F238E27FC236}">
                <a16:creationId xmlns:a16="http://schemas.microsoft.com/office/drawing/2014/main" id="{D7126F1E-4622-465E-A0C5-A3C8853F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验收标准：每个 manifest 都能解释“哪些组合被过滤、哪些 pair 被覆盖、为什么期望成功或失败”。</a:t>
            </a:r>
          </a:p>
        </p:txBody>
      </p:sp>
    </p:spTree>
    <p:extLst>
      <p:ext uri="{BB962C8B-B14F-4D97-AF65-F5344CB8AC3E}">
        <p14:creationId xmlns:p14="http://schemas.microsoft.com/office/powerpoint/2010/main" val="20624983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9">
            <a:extLst xmlns:a="http://schemas.openxmlformats.org/drawingml/2006/main">
              <a:ext uri="{FF2B5EF4-FFF2-40B4-BE49-F238E27FC236}">
                <a16:creationId xmlns:a16="http://schemas.microsoft.com/office/drawing/2014/main" id="{E1F9439B-DAB6-4C0D-B1E0-20FD9F3F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08 · 验证闭环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8E30B5A-F0A1-40CE-899D-964C41B8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从“YAML 合法”到“数据库行为正确”的五层质量门</a:t>
            </a:r>
          </a:p>
        </p:txBody>
      </p:sp>
      <p:sp>
        <p:nvSpPr>
          <p:cNvPr id="3" name="rule-48-138">
            <a:extLst xmlns:a="http://schemas.openxmlformats.org/drawingml/2006/main">
              <a:ext uri="{FF2B5EF4-FFF2-40B4-BE49-F238E27FC236}">
                <a16:creationId xmlns:a16="http://schemas.microsoft.com/office/drawing/2014/main" id="{A53F8185-1894-4F1F-A617-72A94B9B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EF4EB1B0-BE79-4C6D-ACA8-8F743AB2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pyramid-0">
            <a:extLst xmlns:a="http://schemas.openxmlformats.org/drawingml/2006/main">
              <a:ext uri="{FF2B5EF4-FFF2-40B4-BE49-F238E27FC236}">
                <a16:creationId xmlns:a16="http://schemas.microsoft.com/office/drawing/2014/main" id="{B8EF6C13-6174-407B-A8D2-2525FD9C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71650"/>
            <a:ext cx="762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EBEF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6" name="pyramid-h-0">
            <a:extLst xmlns:a="http://schemas.openxmlformats.org/drawingml/2006/main">
              <a:ext uri="{FF2B5EF4-FFF2-40B4-BE49-F238E27FC236}">
                <a16:creationId xmlns:a16="http://schemas.microsoft.com/office/drawing/2014/main" id="{C6519F35-30DA-4126-94B6-3AC127E7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7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Lint</a:t>
            </a:r>
          </a:p>
        </p:txBody>
      </p:sp>
      <p:sp>
        <p:nvSpPr>
          <p:cNvPr id="7" name="pyramid-b-0">
            <a:extLst xmlns:a="http://schemas.openxmlformats.org/drawingml/2006/main">
              <a:ext uri="{FF2B5EF4-FFF2-40B4-BE49-F238E27FC236}">
                <a16:creationId xmlns:a16="http://schemas.microsoft.com/office/drawing/2014/main" id="{6F643E11-F091-4531-8478-40B2329B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955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7692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模型、引用、约束语法</a:t>
            </a:r>
          </a:p>
        </p:txBody>
      </p:sp>
      <p:sp>
        <p:nvSpPr>
          <p:cNvPr id="8" name="pyramid-1">
            <a:extLst xmlns:a="http://schemas.openxmlformats.org/drawingml/2006/main">
              <a:ext uri="{FF2B5EF4-FFF2-40B4-BE49-F238E27FC236}">
                <a16:creationId xmlns:a16="http://schemas.microsoft.com/office/drawing/2014/main" id="{5D800D82-FEC5-46D0-9C74-03B8D005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55270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9" name="pyramid-h-1">
            <a:extLst xmlns:a="http://schemas.openxmlformats.org/drawingml/2006/main">
              <a:ext uri="{FF2B5EF4-FFF2-40B4-BE49-F238E27FC236}">
                <a16:creationId xmlns:a16="http://schemas.microsoft.com/office/drawing/2014/main" id="{506EEA8E-B62A-4DC3-8F1A-476DB145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6289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静态生成</a:t>
            </a:r>
          </a:p>
        </p:txBody>
      </p:sp>
      <p:sp>
        <p:nvSpPr>
          <p:cNvPr id="10" name="pyramid-b-1">
            <a:extLst xmlns:a="http://schemas.openxmlformats.org/drawingml/2006/main">
              <a:ext uri="{FF2B5EF4-FFF2-40B4-BE49-F238E27FC236}">
                <a16:creationId xmlns:a16="http://schemas.microsoft.com/office/drawing/2014/main" id="{806C411D-960E-4CED-8ECB-2F70350A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876550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796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槽位、可行 pair、唯一 case_id</a:t>
            </a:r>
          </a:p>
        </p:txBody>
      </p:sp>
      <p:sp>
        <p:nvSpPr>
          <p:cNvPr id="11" name="pyramid-2">
            <a:extLst xmlns:a="http://schemas.openxmlformats.org/drawingml/2006/main">
              <a:ext uri="{FF2B5EF4-FFF2-40B4-BE49-F238E27FC236}">
                <a16:creationId xmlns:a16="http://schemas.microsoft.com/office/drawing/2014/main" id="{32D7F2A6-F9F0-49D3-BEDF-FE7723F0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9F0FA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2" name="pyramid-h-2">
            <a:extLst xmlns:a="http://schemas.openxmlformats.org/drawingml/2006/main">
              <a:ext uri="{FF2B5EF4-FFF2-40B4-BE49-F238E27FC236}">
                <a16:creationId xmlns:a16="http://schemas.microsoft.com/office/drawing/2014/main" id="{D6D9182C-FB05-4002-88A5-1E6F4D87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099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Smoke</a:t>
            </a:r>
          </a:p>
        </p:txBody>
      </p:sp>
      <p:sp>
        <p:nvSpPr>
          <p:cNvPr id="13" name="pyramid-b-2">
            <a:extLst xmlns:a="http://schemas.openxmlformats.org/drawingml/2006/main">
              <a:ext uri="{FF2B5EF4-FFF2-40B4-BE49-F238E27FC236}">
                <a16:creationId xmlns:a16="http://schemas.microsoft.com/office/drawing/2014/main" id="{F371B127-DE5C-4328-AD54-84D75621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57600"/>
            <a:ext cx="259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Fixture 成功 + 目标 SQL 成功/失败</a:t>
            </a:r>
          </a:p>
        </p:txBody>
      </p:sp>
      <p:sp>
        <p:nvSpPr>
          <p:cNvPr id="14" name="pyramid-3">
            <a:extLst xmlns:a="http://schemas.openxmlformats.org/drawingml/2006/main">
              <a:ext uri="{FF2B5EF4-FFF2-40B4-BE49-F238E27FC236}">
                <a16:creationId xmlns:a16="http://schemas.microsoft.com/office/drawing/2014/main" id="{602B6622-CCDB-45BA-8E3F-9D712786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14800"/>
            <a:ext cx="3905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5" name="pyramid-h-3">
            <a:extLst xmlns:a="http://schemas.openxmlformats.org/drawingml/2006/main">
              <a:ext uri="{FF2B5EF4-FFF2-40B4-BE49-F238E27FC236}">
                <a16:creationId xmlns:a16="http://schemas.microsoft.com/office/drawing/2014/main" id="{6A525ED7-5606-4AAF-BAE0-CB21D701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91000"/>
            <a:ext cx="363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Behavior</a:t>
            </a:r>
          </a:p>
        </p:txBody>
      </p:sp>
      <p:sp>
        <p:nvSpPr>
          <p:cNvPr id="16" name="pyramid-b-3">
            <a:extLst xmlns:a="http://schemas.openxmlformats.org/drawingml/2006/main">
              <a:ext uri="{FF2B5EF4-FFF2-40B4-BE49-F238E27FC236}">
                <a16:creationId xmlns:a16="http://schemas.microsoft.com/office/drawing/2014/main" id="{3BA0D175-5083-4152-9835-3606631D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38650"/>
            <a:ext cx="3638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结果集、affected rows、DML 拒绝</a:t>
            </a:r>
          </a:p>
        </p:txBody>
      </p:sp>
      <p:sp>
        <p:nvSpPr>
          <p:cNvPr id="17" name="pyramid-4">
            <a:extLst xmlns:a="http://schemas.openxmlformats.org/drawingml/2006/main">
              <a:ext uri="{FF2B5EF4-FFF2-40B4-BE49-F238E27FC236}">
                <a16:creationId xmlns:a16="http://schemas.microsoft.com/office/drawing/2014/main" id="{C791C508-ECB4-4EA4-8112-D91207C8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895850"/>
            <a:ext cx="4953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18" name="pyramid-h-4">
            <a:extLst xmlns:a="http://schemas.openxmlformats.org/drawingml/2006/main">
              <a:ext uri="{FF2B5EF4-FFF2-40B4-BE49-F238E27FC236}">
                <a16:creationId xmlns:a16="http://schemas.microsoft.com/office/drawing/2014/main" id="{134B6563-D478-46EA-96CF-0F0B793F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720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Metadata / Lifecycle</a:t>
            </a:r>
          </a:p>
        </p:txBody>
      </p:sp>
      <p:sp>
        <p:nvSpPr>
          <p:cNvPr id="19" name="pyramid-b-4">
            <a:extLst xmlns:a="http://schemas.openxmlformats.org/drawingml/2006/main">
              <a:ext uri="{FF2B5EF4-FFF2-40B4-BE49-F238E27FC236}">
                <a16:creationId xmlns:a16="http://schemas.microsoft.com/office/drawing/2014/main" id="{A4DD7293-6608-4601-8701-CA012678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468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目录状态、有效性、临时性、跨步骤迁移</a:t>
            </a:r>
          </a:p>
        </p:txBody>
      </p:sp>
      <p:sp>
        <p:nvSpPr>
          <p:cNvPr id="20" name="verification-title">
            <a:extLst xmlns:a="http://schemas.openxmlformats.org/drawingml/2006/main">
              <a:ext uri="{FF2B5EF4-FFF2-40B4-BE49-F238E27FC236}">
                <a16:creationId xmlns:a16="http://schemas.microsoft.com/office/drawing/2014/main" id="{DA134783-810D-4D45-A039-7C0DC6E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90700"/>
            <a:ext cx="529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失败用例必须命中目标错误</a:t>
            </a:r>
          </a:p>
        </p:txBody>
      </p:sp>
      <p:sp>
        <p:nvSpPr>
          <p:cNvPr id="21" name="oracle-panel">
            <a:extLst xmlns:a="http://schemas.openxmlformats.org/drawingml/2006/main">
              <a:ext uri="{FF2B5EF4-FFF2-40B4-BE49-F238E27FC236}">
                <a16:creationId xmlns:a16="http://schemas.microsoft.com/office/drawing/2014/main" id="{074B8BCB-C4BC-4285-A340-ED7AB6D2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19350"/>
            <a:ext cx="52197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22" name="oracle">
            <a:extLst xmlns:a="http://schemas.openxmlformats.org/drawingml/2006/main">
              <a:ext uri="{FF2B5EF4-FFF2-40B4-BE49-F238E27FC236}">
                <a16:creationId xmlns:a16="http://schemas.microsoft.com/office/drawing/2014/main" id="{970E6568-3242-4F48-94B9-2FB2FCF8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71750"/>
            <a:ext cx="48768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expected: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status: error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violates_rule_refs: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- view_non_updatable_check_option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oracle: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sqlstate: 42809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error_category: capability_violation</a:t>
            </a:r>
          </a:p>
        </p:txBody>
      </p:sp>
      <p:sp>
        <p:nvSpPr>
          <p:cNvPr id="23" name="verification-points">
            <a:extLst xmlns:a="http://schemas.openxmlformats.org/drawingml/2006/main">
              <a:ext uri="{FF2B5EF4-FFF2-40B4-BE49-F238E27FC236}">
                <a16:creationId xmlns:a16="http://schemas.microsoft.com/office/drawing/2014/main" id="{12009BBA-5A1F-4FE2-B970-7E5BFC2A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67300"/>
            <a:ext cx="5219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setup 失败不能算目标 SQL 失败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对象不存在、列错误不能冒充能力限制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success 也要验证结果和元数据，而不只看无异常</a:t>
            </a:r>
          </a:p>
        </p:txBody>
      </p:sp>
    </p:spTree>
    <p:extLst>
      <p:ext uri="{BB962C8B-B14F-4D97-AF65-F5344CB8AC3E}">
        <p14:creationId xmlns:p14="http://schemas.microsoft.com/office/powerpoint/2010/main" val="12832802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10">
            <a:extLst xmlns:a="http://schemas.openxmlformats.org/drawingml/2006/main">
              <a:ext uri="{FF2B5EF4-FFF2-40B4-BE49-F238E27FC236}">
                <a16:creationId xmlns:a16="http://schemas.microsoft.com/office/drawing/2014/main" id="{E745D557-8D8D-43CF-A0D4-52CF16AE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09 · 当前进展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2C04A0CC-F2B7-4050-A640-78369FD1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当前已经形成可观的规格资产规模</a:t>
            </a:r>
          </a:p>
        </p:txBody>
      </p:sp>
      <p:sp>
        <p:nvSpPr>
          <p:cNvPr id="3" name="rule-48-138">
            <a:extLst xmlns:a="http://schemas.openxmlformats.org/drawingml/2006/main">
              <a:ext uri="{FF2B5EF4-FFF2-40B4-BE49-F238E27FC236}">
                <a16:creationId xmlns:a16="http://schemas.microsoft.com/office/drawing/2014/main" id="{F9BC5BA2-E536-4C0E-BC1D-1C189FA1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CDE56FDB-F352-419C-ABC2-4A7F0195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m-pack-value">
            <a:extLst xmlns:a="http://schemas.openxmlformats.org/drawingml/2006/main">
              <a:ext uri="{FF2B5EF4-FFF2-40B4-BE49-F238E27FC236}">
                <a16:creationId xmlns:a16="http://schemas.microsoft.com/office/drawing/2014/main" id="{4989ECEF-4D73-47E0-B6AB-40460BD8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226</a:t>
            </a:r>
          </a:p>
        </p:txBody>
      </p:sp>
      <p:sp>
        <p:nvSpPr>
          <p:cNvPr id="6" name="m-pack-label">
            <a:extLst xmlns:a="http://schemas.openxmlformats.org/drawingml/2006/main">
              <a:ext uri="{FF2B5EF4-FFF2-40B4-BE49-F238E27FC236}">
                <a16:creationId xmlns:a16="http://schemas.microsoft.com/office/drawing/2014/main" id="{79344F2A-02FA-4369-A362-217FCDB3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Factor Packages</a:t>
            </a:r>
          </a:p>
        </p:txBody>
      </p:sp>
      <p:sp>
        <p:nvSpPr>
          <p:cNvPr id="7" name="m-files-value">
            <a:extLst xmlns:a="http://schemas.openxmlformats.org/drawingml/2006/main">
              <a:ext uri="{FF2B5EF4-FFF2-40B4-BE49-F238E27FC236}">
                <a16:creationId xmlns:a16="http://schemas.microsoft.com/office/drawing/2014/main" id="{1E5CE409-AD26-4979-8AF3-B4DF9C4A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526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1,859</a:t>
            </a:r>
          </a:p>
        </p:txBody>
      </p:sp>
      <p:sp>
        <p:nvSpPr>
          <p:cNvPr id="8" name="m-files-label">
            <a:extLst xmlns:a="http://schemas.openxmlformats.org/drawingml/2006/main">
              <a:ext uri="{FF2B5EF4-FFF2-40B4-BE49-F238E27FC236}">
                <a16:creationId xmlns:a16="http://schemas.microsoft.com/office/drawing/2014/main" id="{23F99ECD-19C4-4F5A-A857-32ACE94D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384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YAML / 规格文件</a:t>
            </a:r>
          </a:p>
        </p:txBody>
      </p:sp>
      <p:sp>
        <p:nvSpPr>
          <p:cNvPr id="9" name="m-manifest-value">
            <a:extLst xmlns:a="http://schemas.openxmlformats.org/drawingml/2006/main">
              <a:ext uri="{FF2B5EF4-FFF2-40B4-BE49-F238E27FC236}">
                <a16:creationId xmlns:a16="http://schemas.microsoft.com/office/drawing/2014/main" id="{B7F2F642-AA25-4EF6-83A4-9884DD0D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296</a:t>
            </a:r>
          </a:p>
        </p:txBody>
      </p:sp>
      <p:sp>
        <p:nvSpPr>
          <p:cNvPr id="10" name="m-manifest-label">
            <a:extLst xmlns:a="http://schemas.openxmlformats.org/drawingml/2006/main">
              <a:ext uri="{FF2B5EF4-FFF2-40B4-BE49-F238E27FC236}">
                <a16:creationId xmlns:a16="http://schemas.microsoft.com/office/drawing/2014/main" id="{3E80C2FD-D9B1-4724-B9D1-68081CF7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Manifests</a:t>
            </a:r>
          </a:p>
        </p:txBody>
      </p:sp>
      <p:sp>
        <p:nvSpPr>
          <p:cNvPr id="11" name="m-scenario-value">
            <a:extLst xmlns:a="http://schemas.openxmlformats.org/drawingml/2006/main">
              <a:ext uri="{FF2B5EF4-FFF2-40B4-BE49-F238E27FC236}">
                <a16:creationId xmlns:a16="http://schemas.microsoft.com/office/drawing/2014/main" id="{F90AC088-FDB7-4DF9-AC73-6CB67206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526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522</a:t>
            </a:r>
          </a:p>
        </p:txBody>
      </p:sp>
      <p:sp>
        <p:nvSpPr>
          <p:cNvPr id="12" name="m-scenario-label">
            <a:extLst xmlns:a="http://schemas.openxmlformats.org/drawingml/2006/main">
              <a:ext uri="{FF2B5EF4-FFF2-40B4-BE49-F238E27FC236}">
                <a16:creationId xmlns:a16="http://schemas.microsoft.com/office/drawing/2014/main" id="{DB3DFF24-1BBA-4E5B-8E6D-3D727F9E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384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Scenarios</a:t>
            </a:r>
          </a:p>
        </p:txBody>
      </p:sp>
      <p:sp>
        <p:nvSpPr>
          <p:cNvPr id="13" name="rule-70-332">
            <a:extLst xmlns:a="http://schemas.openxmlformats.org/drawingml/2006/main">
              <a:ext uri="{FF2B5EF4-FFF2-40B4-BE49-F238E27FC236}">
                <a16:creationId xmlns:a16="http://schemas.microsoft.com/office/drawing/2014/main" id="{D13A887F-6762-41B9-9D55-3CC4A9AD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3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4" name="inventory-0">
            <a:extLst xmlns:a="http://schemas.openxmlformats.org/drawingml/2006/main">
              <a:ext uri="{FF2B5EF4-FFF2-40B4-BE49-F238E27FC236}">
                <a16:creationId xmlns:a16="http://schemas.microsoft.com/office/drawing/2014/main" id="{52B61098-DBBA-4AC4-8483-36EDA0D2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143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5" name="inventory-v-0">
            <a:extLst xmlns:a="http://schemas.openxmlformats.org/drawingml/2006/main">
              <a:ext uri="{FF2B5EF4-FFF2-40B4-BE49-F238E27FC236}">
                <a16:creationId xmlns:a16="http://schemas.microsoft.com/office/drawing/2014/main" id="{AFC63902-15FB-4FF2-A2EB-64C9D866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133</a:t>
            </a:r>
          </a:p>
        </p:txBody>
      </p:sp>
      <p:sp>
        <p:nvSpPr>
          <p:cNvPr id="16" name="inventory-h-0">
            <a:extLst xmlns:a="http://schemas.openxmlformats.org/drawingml/2006/main">
              <a:ext uri="{FF2B5EF4-FFF2-40B4-BE49-F238E27FC236}">
                <a16:creationId xmlns:a16="http://schemas.microsoft.com/office/drawing/2014/main" id="{533F9F2B-823D-4297-82C1-751BA87F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Fixtures</a:t>
            </a:r>
          </a:p>
        </p:txBody>
      </p:sp>
      <p:sp>
        <p:nvSpPr>
          <p:cNvPr id="17" name="inventory-b-0">
            <a:extLst xmlns:a="http://schemas.openxmlformats.org/drawingml/2006/main">
              <a:ext uri="{FF2B5EF4-FFF2-40B4-BE49-F238E27FC236}">
                <a16:creationId xmlns:a16="http://schemas.microsoft.com/office/drawing/2014/main" id="{B69D68B7-D8CF-4FCB-9AD6-1C2CE237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可复用对象、列、数据与清理</a:t>
            </a:r>
          </a:p>
        </p:txBody>
      </p:sp>
      <p:sp>
        <p:nvSpPr>
          <p:cNvPr id="18" name="inventory-1">
            <a:extLst xmlns:a="http://schemas.openxmlformats.org/drawingml/2006/main">
              <a:ext uri="{FF2B5EF4-FFF2-40B4-BE49-F238E27FC236}">
                <a16:creationId xmlns:a16="http://schemas.microsoft.com/office/drawing/2014/main" id="{B593479B-7CBF-4B24-8812-DBA71EDB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38550"/>
            <a:ext cx="3143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9" name="inventory-v-1">
            <a:extLst xmlns:a="http://schemas.openxmlformats.org/drawingml/2006/main">
              <a:ext uri="{FF2B5EF4-FFF2-40B4-BE49-F238E27FC236}">
                <a16:creationId xmlns:a16="http://schemas.microsoft.com/office/drawing/2014/main" id="{60E724ED-5735-42DA-A60C-39FE6B84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290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230</a:t>
            </a:r>
          </a:p>
        </p:txBody>
      </p:sp>
      <p:sp>
        <p:nvSpPr>
          <p:cNvPr id="20" name="inventory-h-1">
            <a:extLst xmlns:a="http://schemas.openxmlformats.org/drawingml/2006/main">
              <a:ext uri="{FF2B5EF4-FFF2-40B4-BE49-F238E27FC236}">
                <a16:creationId xmlns:a16="http://schemas.microsoft.com/office/drawing/2014/main" id="{8AA59FB2-3F2F-4007-8251-77438991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671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Matrices</a:t>
            </a:r>
          </a:p>
        </p:txBody>
      </p:sp>
      <p:sp>
        <p:nvSpPr>
          <p:cNvPr id="21" name="inventory-b-1">
            <a:extLst xmlns:a="http://schemas.openxmlformats.org/drawingml/2006/main">
              <a:ext uri="{FF2B5EF4-FFF2-40B4-BE49-F238E27FC236}">
                <a16:creationId xmlns:a16="http://schemas.microsoft.com/office/drawing/2014/main" id="{A2ED8ABB-036F-4A6F-AD7F-E96008B3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005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能力组合与环境兼容画像</a:t>
            </a:r>
          </a:p>
        </p:txBody>
      </p:sp>
      <p:sp>
        <p:nvSpPr>
          <p:cNvPr id="22" name="inventory-2">
            <a:extLst xmlns:a="http://schemas.openxmlformats.org/drawingml/2006/main">
              <a:ext uri="{FF2B5EF4-FFF2-40B4-BE49-F238E27FC236}">
                <a16:creationId xmlns:a16="http://schemas.microsoft.com/office/drawing/2014/main" id="{1696D3B6-94F6-49BA-8F7A-FAF5B013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3143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D9F0FA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23" name="inventory-v-2">
            <a:extLst xmlns:a="http://schemas.openxmlformats.org/drawingml/2006/main">
              <a:ext uri="{FF2B5EF4-FFF2-40B4-BE49-F238E27FC236}">
                <a16:creationId xmlns:a16="http://schemas.microsoft.com/office/drawing/2014/main" id="{8024CCE8-1573-42C9-8A76-5A4478CB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23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226 / 226</a:t>
            </a:r>
          </a:p>
        </p:txBody>
      </p:sp>
      <p:sp>
        <p:nvSpPr>
          <p:cNvPr id="24" name="inventory-h-2">
            <a:extLst xmlns:a="http://schemas.openxmlformats.org/drawingml/2006/main">
              <a:ext uri="{FF2B5EF4-FFF2-40B4-BE49-F238E27FC236}">
                <a16:creationId xmlns:a16="http://schemas.microsoft.com/office/drawing/2014/main" id="{89959C2E-E930-460D-9C2B-51872245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Source + Syntax</a:t>
            </a:r>
          </a:p>
        </p:txBody>
      </p:sp>
      <p:sp>
        <p:nvSpPr>
          <p:cNvPr id="25" name="inventory-b-2">
            <a:extLst xmlns:a="http://schemas.openxmlformats.org/drawingml/2006/main">
              <a:ext uri="{FF2B5EF4-FFF2-40B4-BE49-F238E27FC236}">
                <a16:creationId xmlns:a16="http://schemas.microsoft.com/office/drawing/2014/main" id="{8ED602CC-619D-41CF-9959-1658272F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每个因子均有来源账本与语法产物</a:t>
            </a:r>
          </a:p>
        </p:txBody>
      </p:sp>
      <p:sp>
        <p:nvSpPr>
          <p:cNvPr id="26" name="scale-caveat">
            <a:extLst xmlns:a="http://schemas.openxmlformats.org/drawingml/2006/main">
              <a:ext uri="{FF2B5EF4-FFF2-40B4-BE49-F238E27FC236}">
                <a16:creationId xmlns:a16="http://schemas.microsoft.com/office/drawing/2014/main" id="{D67B2F14-DEE8-4E5B-8EE6-C126DEE6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334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D4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7" name="scale-caveat-text">
            <a:extLst xmlns:a="http://schemas.openxmlformats.org/drawingml/2006/main">
              <a:ext uri="{FF2B5EF4-FFF2-40B4-BE49-F238E27FC236}">
                <a16:creationId xmlns:a16="http://schemas.microsoft.com/office/drawing/2014/main" id="{337BFFBA-B55A-41C6-87FA-DE5503F4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6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重要：规模 ≠ 成熟度。1205 个自动对齐产物仍为 low confidence / unreviewed；可信度必须由下一页的质量分层与回归证据决定。</a:t>
            </a:r>
          </a:p>
        </p:txBody>
      </p:sp>
    </p:spTree>
    <p:extLst>
      <p:ext uri="{BB962C8B-B14F-4D97-AF65-F5344CB8AC3E}">
        <p14:creationId xmlns:p14="http://schemas.microsoft.com/office/powerpoint/2010/main" val="2825639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11">
            <a:extLst xmlns:a="http://schemas.openxmlformats.org/drawingml/2006/main">
              <a:ext uri="{FF2B5EF4-FFF2-40B4-BE49-F238E27FC236}">
                <a16:creationId xmlns:a16="http://schemas.microsoft.com/office/drawing/2014/main" id="{CAF2B92F-D6B9-4240-9789-2E5CFBB8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10 · 质量分层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7EB0C04-528B-46BF-9C30-CEC35CF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226 个因子已经完成成熟度分层</a:t>
            </a:r>
          </a:p>
        </p:txBody>
      </p:sp>
      <p:sp>
        <p:nvSpPr>
          <p:cNvPr id="3" name="rule-48-138">
            <a:extLst xmlns:a="http://schemas.openxmlformats.org/drawingml/2006/main">
              <a:ext uri="{FF2B5EF4-FFF2-40B4-BE49-F238E27FC236}">
                <a16:creationId xmlns:a16="http://schemas.microsoft.com/office/drawing/2014/main" id="{62365A12-1814-4EB5-9A18-58433561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8A3578BA-132A-4166-90DE-6D7682CB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6572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30fb7dedbb402c"/>
          </a:graphicData>
        </a:graphic>
      </p:graphicFrame>
      <p:sp>
        <p:nvSpPr>
          <p:cNvPr id="6" name="maturity-title">
            <a:extLst xmlns:a="http://schemas.openxmlformats.org/drawingml/2006/main">
              <a:ext uri="{FF2B5EF4-FFF2-40B4-BE49-F238E27FC236}">
                <a16:creationId xmlns:a16="http://schemas.microsoft.com/office/drawing/2014/main" id="{C9DEC4E7-754C-4722-AF35-FFDA1EAB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最关键的含义</a:t>
            </a:r>
          </a:p>
        </p:txBody>
      </p:sp>
      <p:sp>
        <p:nvSpPr>
          <p:cNvPr id="7" name="meaning-accent-0">
            <a:extLst xmlns:a="http://schemas.openxmlformats.org/drawingml/2006/main">
              <a:ext uri="{FF2B5EF4-FFF2-40B4-BE49-F238E27FC236}">
                <a16:creationId xmlns:a16="http://schemas.microsoft.com/office/drawing/2014/main" id="{F3A5AF6A-BEFE-42AB-8727-B0BF7CF9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aning-h-0">
            <a:extLst xmlns:a="http://schemas.openxmlformats.org/drawingml/2006/main">
              <a:ext uri="{FF2B5EF4-FFF2-40B4-BE49-F238E27FC236}">
                <a16:creationId xmlns:a16="http://schemas.microsoft.com/office/drawing/2014/main" id="{C71C5E1B-8108-40F7-A516-D02B20E1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113 Slot</a:t>
            </a:r>
          </a:p>
        </p:txBody>
      </p:sp>
      <p:sp>
        <p:nvSpPr>
          <p:cNvPr id="9" name="meaning-b-0">
            <a:extLst xmlns:a="http://schemas.openxmlformats.org/drawingml/2006/main">
              <a:ext uri="{FF2B5EF4-FFF2-40B4-BE49-F238E27FC236}">
                <a16:creationId xmlns:a16="http://schemas.microsoft.com/office/drawing/2014/main" id="{288B962F-3C66-401B-AFB6-01DA491A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622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可进入分批 Smoke 修复主线；当前第一批已证明能修到 100%。</a:t>
            </a:r>
          </a:p>
        </p:txBody>
      </p:sp>
      <p:sp>
        <p:nvSpPr>
          <p:cNvPr id="10" name="meaning-accent-1">
            <a:extLst xmlns:a="http://schemas.openxmlformats.org/drawingml/2006/main">
              <a:ext uri="{FF2B5EF4-FFF2-40B4-BE49-F238E27FC236}">
                <a16:creationId xmlns:a16="http://schemas.microsoft.com/office/drawing/2014/main" id="{A423138A-AFAD-4E7A-9B13-FEECCC45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aning-h-1">
            <a:extLst xmlns:a="http://schemas.openxmlformats.org/drawingml/2006/main">
              <a:ext uri="{FF2B5EF4-FFF2-40B4-BE49-F238E27FC236}">
                <a16:creationId xmlns:a16="http://schemas.microsoft.com/office/drawing/2014/main" id="{3EDF59A5-E9BB-4B96-88FE-39B45E57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433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108 BNF</a:t>
            </a:r>
          </a:p>
        </p:txBody>
      </p:sp>
      <p:sp>
        <p:nvSpPr>
          <p:cNvPr id="12" name="meaning-b-1">
            <a:extLst xmlns:a="http://schemas.openxmlformats.org/drawingml/2006/main">
              <a:ext uri="{FF2B5EF4-FFF2-40B4-BE49-F238E27FC236}">
                <a16:creationId xmlns:a16="http://schemas.microsoft.com/office/drawing/2014/main" id="{CC5A050E-BA23-4858-8380-BE11A328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243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仍是“语法说明书”，不是可直接执行模板；不应自动宣称 generation=true。</a:t>
            </a:r>
          </a:p>
        </p:txBody>
      </p:sp>
      <p:sp>
        <p:nvSpPr>
          <p:cNvPr id="13" name="meaning-accent-2">
            <a:extLst xmlns:a="http://schemas.openxmlformats.org/drawingml/2006/main">
              <a:ext uri="{FF2B5EF4-FFF2-40B4-BE49-F238E27FC236}">
                <a16:creationId xmlns:a16="http://schemas.microsoft.com/office/drawing/2014/main" id="{29846B24-9F1F-45C2-BCCC-2AA868CA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aning-h-2">
            <a:extLst xmlns:a="http://schemas.openxmlformats.org/drawingml/2006/main">
              <a:ext uri="{FF2B5EF4-FFF2-40B4-BE49-F238E27FC236}">
                <a16:creationId xmlns:a16="http://schemas.microsoft.com/office/drawing/2014/main" id="{6340EF1F-84B9-46AC-86E1-B1ABD1F6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04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804A"/>
                </a:solidFill>
                <a:latin typeface="PingFang SC"/>
                <a:ea typeface="PingFang SC"/>
                <a:cs typeface="PingFang SC"/>
              </a:rPr>
              <a:t>4 AST</a:t>
            </a:r>
          </a:p>
        </p:txBody>
      </p:sp>
      <p:sp>
        <p:nvSpPr>
          <p:cNvPr id="15" name="meaning-b-2">
            <a:extLst xmlns:a="http://schemas.openxmlformats.org/drawingml/2006/main">
              <a:ext uri="{FF2B5EF4-FFF2-40B4-BE49-F238E27FC236}">
                <a16:creationId xmlns:a16="http://schemas.microsoft.com/office/drawing/2014/main" id="{8BFFB99F-68CB-4C05-9A3B-7E66E575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863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SELECT / INSERT / CREATE INDEX / ALTER TABLE 已能表达嵌套与重复结构。</a:t>
            </a:r>
          </a:p>
        </p:txBody>
      </p:sp>
      <p:sp>
        <p:nvSpPr>
          <p:cNvPr id="16" name="maturity-bottom">
            <a:extLst xmlns:a="http://schemas.openxmlformats.org/drawingml/2006/main">
              <a:ext uri="{FF2B5EF4-FFF2-40B4-BE49-F238E27FC236}">
                <a16:creationId xmlns:a16="http://schemas.microsoft.com/office/drawing/2014/main" id="{118AD348-BED0-41E4-B9C5-36C56AD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策略：先把 113 个 Slot 因子逐批做实；108 个 BNF 因子建设解析器，不做 430 小时纯手工硬改。</a:t>
            </a:r>
          </a:p>
        </p:txBody>
      </p:sp>
    </p:spTree>
    <p:extLst>
      <p:ext uri="{BB962C8B-B14F-4D97-AF65-F5344CB8AC3E}">
        <p14:creationId xmlns:p14="http://schemas.microsoft.com/office/powerpoint/2010/main" val="2226748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2">
            <a:extLst xmlns:a="http://schemas.openxmlformats.org/drawingml/2006/main">
              <a:ext uri="{FF2B5EF4-FFF2-40B4-BE49-F238E27FC236}">
                <a16:creationId xmlns:a16="http://schemas.microsoft.com/office/drawing/2014/main" id="{3F02CC6E-0761-4291-9665-DE11FEEE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11 · 可行性证据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7FF095F4-AB5F-4EB3-A9D9-268AE062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项目已经证明：这条链路能闭环，而不是停留在设计</a:t>
            </a:r>
          </a:p>
        </p:txBody>
      </p:sp>
      <p:sp>
        <p:nvSpPr>
          <p:cNvPr id="3" name="rule-48-138">
            <a:extLst xmlns:a="http://schemas.openxmlformats.org/drawingml/2006/main">
              <a:ext uri="{FF2B5EF4-FFF2-40B4-BE49-F238E27FC236}">
                <a16:creationId xmlns:a16="http://schemas.microsoft.com/office/drawing/2014/main" id="{F935A5DB-4497-4A48-BC43-5F202A79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CE0DCB53-0A37-45CE-8F2B-CC4AC94B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golden">
            <a:extLst xmlns:a="http://schemas.openxmlformats.org/drawingml/2006/main">
              <a:ext uri="{FF2B5EF4-FFF2-40B4-BE49-F238E27FC236}">
                <a16:creationId xmlns:a16="http://schemas.microsoft.com/office/drawing/2014/main" id="{51FE67DA-D65D-43E7-B595-91574AA6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521970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9525">
            <a:solidFill>
              <a:srgbClr val="14804A"/>
            </a:solidFill>
            <a:prstDash val="solid"/>
          </a:ln>
        </p:spPr>
      </p:sp>
      <p:sp>
        <p:nvSpPr>
          <p:cNvPr id="6" name="golden-label">
            <a:extLst xmlns:a="http://schemas.openxmlformats.org/drawingml/2006/main">
              <a:ext uri="{FF2B5EF4-FFF2-40B4-BE49-F238E27FC236}">
                <a16:creationId xmlns:a16="http://schemas.microsoft.com/office/drawing/2014/main" id="{A204AC24-8ADA-481C-BED7-19E9EFB3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804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4804A"/>
                </a:solidFill>
                <a:latin typeface="PingFang SC"/>
                <a:ea typeface="PingFang SC"/>
                <a:cs typeface="PingFang SC"/>
              </a:rPr>
              <a:t>黄金核心回归</a:t>
            </a:r>
          </a:p>
        </p:txBody>
      </p:sp>
      <p:sp>
        <p:nvSpPr>
          <p:cNvPr id="7" name="golden-num">
            <a:extLst xmlns:a="http://schemas.openxmlformats.org/drawingml/2006/main">
              <a:ext uri="{FF2B5EF4-FFF2-40B4-BE49-F238E27FC236}">
                <a16:creationId xmlns:a16="http://schemas.microsoft.com/office/drawing/2014/main" id="{F99C6DF1-C3AB-4026-B1D0-87EAED94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28 / 28</a:t>
            </a:r>
          </a:p>
        </p:txBody>
      </p:sp>
      <p:sp>
        <p:nvSpPr>
          <p:cNvPr id="8" name="golden-rounds">
            <a:extLst xmlns:a="http://schemas.openxmlformats.org/drawingml/2006/main">
              <a:ext uri="{FF2B5EF4-FFF2-40B4-BE49-F238E27FC236}">
                <a16:creationId xmlns:a16="http://schemas.microsoft.com/office/drawing/2014/main" id="{B972C001-4F4A-40FF-A75D-FE860A53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连续两轮 · 两个干净 Schema · 100%</a:t>
            </a:r>
          </a:p>
        </p:txBody>
      </p:sp>
      <p:sp>
        <p:nvSpPr>
          <p:cNvPr id="9" name="golden-list">
            <a:extLst xmlns:a="http://schemas.openxmlformats.org/drawingml/2006/main">
              <a:ext uri="{FF2B5EF4-FFF2-40B4-BE49-F238E27FC236}">
                <a16:creationId xmlns:a16="http://schemas.microsoft.com/office/drawing/2014/main" id="{6E62E483-6E00-4CD3-8054-44841BBD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4495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7 个黄金因子，14 个行为/元数据场景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正向结果集 / affected rows / 系统目录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负向 SQLSTATE + error_category</a:t>
            </a:r>
          </a:p>
        </p:txBody>
      </p:sp>
      <p:sp>
        <p:nvSpPr>
          <p:cNvPr id="10" name="slot-proof">
            <a:extLst xmlns:a="http://schemas.openxmlformats.org/drawingml/2006/main">
              <a:ext uri="{FF2B5EF4-FFF2-40B4-BE49-F238E27FC236}">
                <a16:creationId xmlns:a16="http://schemas.microsoft.com/office/drawing/2014/main" id="{1981279B-A4B6-480F-92DC-C5F69EB7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514350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D9F0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slot-label">
            <a:extLst xmlns:a="http://schemas.openxmlformats.org/drawingml/2006/main">
              <a:ext uri="{FF2B5EF4-FFF2-40B4-BE49-F238E27FC236}">
                <a16:creationId xmlns:a16="http://schemas.microsoft.com/office/drawing/2014/main" id="{AC4B4997-6043-474F-8447-0CFD049E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Slot 第一批质量门</a:t>
            </a:r>
          </a:p>
        </p:txBody>
      </p:sp>
      <p:sp>
        <p:nvSpPr>
          <p:cNvPr id="12" name="slot-num">
            <a:extLst xmlns:a="http://schemas.openxmlformats.org/drawingml/2006/main">
              <a:ext uri="{FF2B5EF4-FFF2-40B4-BE49-F238E27FC236}">
                <a16:creationId xmlns:a16="http://schemas.microsoft.com/office/drawing/2014/main" id="{722DFE3D-17B8-4F75-8CE3-E98BD637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11 / 11</a:t>
            </a:r>
          </a:p>
        </p:txBody>
      </p:sp>
      <p:sp>
        <p:nvSpPr>
          <p:cNvPr id="13" name="slot-status">
            <a:extLst xmlns:a="http://schemas.openxmlformats.org/drawingml/2006/main">
              <a:ext uri="{FF2B5EF4-FFF2-40B4-BE49-F238E27FC236}">
                <a16:creationId xmlns:a16="http://schemas.microsoft.com/office/drawing/2014/main" id="{141F8E88-7C82-42D2-B6FD-023F9A2C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909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100% 通过 · 黄金回归仍保持 28 / 28</a:t>
            </a:r>
          </a:p>
        </p:txBody>
      </p:sp>
      <p:sp>
        <p:nvSpPr>
          <p:cNvPr id="14" name="slot-list">
            <a:extLst xmlns:a="http://schemas.openxmlformats.org/drawingml/2006/main">
              <a:ext uri="{FF2B5EF4-FFF2-40B4-BE49-F238E27FC236}">
                <a16:creationId xmlns:a16="http://schemas.microsoft.com/office/drawing/2014/main" id="{CEF38268-E410-4092-B0AF-DF71D597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400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按失败根因聚类修复，而不是删失败用例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覆盖 Fixture、语法渲染、目标错误与清理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证明可从 10 扩展到 25 / 50 / 80 / 113</a:t>
            </a:r>
          </a:p>
        </p:txBody>
      </p:sp>
      <p:sp>
        <p:nvSpPr>
          <p:cNvPr id="15" name="db-env">
            <a:extLst xmlns:a="http://schemas.openxmlformats.org/drawingml/2006/main">
              <a:ext uri="{FF2B5EF4-FFF2-40B4-BE49-F238E27FC236}">
                <a16:creationId xmlns:a16="http://schemas.microsoft.com/office/drawing/2014/main" id="{8CBA3D14-1D28-4F7A-9723-11CCF4A2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验证环境：GaussDB Kernel 507.1.0 · build 2834e250 · compat=general · centralized</a:t>
            </a:r>
          </a:p>
        </p:txBody>
      </p:sp>
    </p:spTree>
    <p:extLst>
      <p:ext uri="{BB962C8B-B14F-4D97-AF65-F5344CB8AC3E}">
        <p14:creationId xmlns:p14="http://schemas.microsoft.com/office/powerpoint/2010/main" val="8674207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13">
            <a:extLst xmlns:a="http://schemas.openxmlformats.org/drawingml/2006/main">
              <a:ext uri="{FF2B5EF4-FFF2-40B4-BE49-F238E27FC236}">
                <a16:creationId xmlns:a16="http://schemas.microsoft.com/office/drawing/2014/main" id="{C1ABC559-A782-4C4E-9E07-F3715AF5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12 · 价值意义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DC3A2B37-C2CC-495D-9EF6-971F4478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这个项目的实际价值，不只是“省写 SQL 的时间”</a:t>
            </a:r>
          </a:p>
        </p:txBody>
      </p:sp>
      <p:sp>
        <p:nvSpPr>
          <p:cNvPr id="3" name="rule-48-138">
            <a:extLst xmlns:a="http://schemas.openxmlformats.org/drawingml/2006/main">
              <a:ext uri="{FF2B5EF4-FFF2-40B4-BE49-F238E27FC236}">
                <a16:creationId xmlns:a16="http://schemas.microsoft.com/office/drawing/2014/main" id="{D812912D-40F0-4695-96D3-45401C14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A950BEEC-C3F7-40C6-90F1-E416042F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5" name="value-accent-0">
            <a:extLst xmlns:a="http://schemas.openxmlformats.org/drawingml/2006/main">
              <a:ext uri="{FF2B5EF4-FFF2-40B4-BE49-F238E27FC236}">
                <a16:creationId xmlns:a16="http://schemas.microsoft.com/office/drawing/2014/main" id="{C3F4EDFF-D107-4E09-9149-CB649574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value-head-0">
            <a:extLst xmlns:a="http://schemas.openxmlformats.org/drawingml/2006/main">
              <a:ext uri="{FF2B5EF4-FFF2-40B4-BE49-F238E27FC236}">
                <a16:creationId xmlns:a16="http://schemas.microsoft.com/office/drawing/2014/main" id="{694ECBE3-10EB-42CE-974F-98F3D77B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工程价值</a:t>
            </a:r>
          </a:p>
        </p:txBody>
      </p:sp>
      <p:sp>
        <p:nvSpPr>
          <p:cNvPr id="7" name="value-body-0">
            <a:extLst xmlns:a="http://schemas.openxmlformats.org/drawingml/2006/main">
              <a:ext uri="{FF2B5EF4-FFF2-40B4-BE49-F238E27FC236}">
                <a16:creationId xmlns:a16="http://schemas.microsoft.com/office/drawing/2014/main" id="{4AF67BFF-81BB-443A-B7F6-D98BEBF0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305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规则可版本化</a:t>
            </a:r>
          </a:p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结果可复现</a:t>
            </a:r>
          </a:p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回归可自动化</a:t>
            </a:r>
          </a:p>
        </p:txBody>
      </p:sp>
      <p:sp>
        <p:nvSpPr>
          <p:cNvPr id="8" name="value-explain-0">
            <a:extLst xmlns:a="http://schemas.openxmlformats.org/drawingml/2006/main">
              <a:ext uri="{FF2B5EF4-FFF2-40B4-BE49-F238E27FC236}">
                <a16:creationId xmlns:a16="http://schemas.microsoft.com/office/drawing/2014/main" id="{E4802F09-FAA9-4EAC-8BEE-0E98A0C0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把一次性脚本变成可维护的测试资产。</a:t>
            </a:r>
          </a:p>
        </p:txBody>
      </p:sp>
      <p:sp>
        <p:nvSpPr>
          <p:cNvPr id="9" name="value-accent-1">
            <a:extLst xmlns:a="http://schemas.openxmlformats.org/drawingml/2006/main">
              <a:ext uri="{FF2B5EF4-FFF2-40B4-BE49-F238E27FC236}">
                <a16:creationId xmlns:a16="http://schemas.microsoft.com/office/drawing/2014/main" id="{BAAA6708-ACE1-4102-9938-1FD56E3D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716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alue-head-1">
            <a:extLst xmlns:a="http://schemas.openxmlformats.org/drawingml/2006/main">
              <a:ext uri="{FF2B5EF4-FFF2-40B4-BE49-F238E27FC236}">
                <a16:creationId xmlns:a16="http://schemas.microsoft.com/office/drawing/2014/main" id="{9E69131E-AF00-45FF-92D3-71A82AB9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097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804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4804A"/>
                </a:solidFill>
                <a:latin typeface="PingFang SC"/>
                <a:ea typeface="PingFang SC"/>
                <a:cs typeface="PingFang SC"/>
              </a:rPr>
              <a:t>质量价值</a:t>
            </a:r>
          </a:p>
        </p:txBody>
      </p:sp>
      <p:sp>
        <p:nvSpPr>
          <p:cNvPr id="11" name="value-body-1">
            <a:extLst xmlns:a="http://schemas.openxmlformats.org/drawingml/2006/main">
              <a:ext uri="{FF2B5EF4-FFF2-40B4-BE49-F238E27FC236}">
                <a16:creationId xmlns:a16="http://schemas.microsoft.com/office/drawing/2014/main" id="{659770D6-5D32-4C18-B887-23E53E01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2305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减少遗漏</a:t>
            </a:r>
          </a:p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减少错误组合</a:t>
            </a:r>
          </a:p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杜绝假负向</a:t>
            </a:r>
          </a:p>
        </p:txBody>
      </p:sp>
      <p:sp>
        <p:nvSpPr>
          <p:cNvPr id="12" name="value-explain-1">
            <a:extLst xmlns:a="http://schemas.openxmlformats.org/drawingml/2006/main">
              <a:ext uri="{FF2B5EF4-FFF2-40B4-BE49-F238E27FC236}">
                <a16:creationId xmlns:a16="http://schemas.microsoft.com/office/drawing/2014/main" id="{CE2C6B3C-CD92-4B76-89EB-3C40B8B9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7675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把“报错了”升级为“命中了目标规则”。</a:t>
            </a:r>
          </a:p>
        </p:txBody>
      </p:sp>
      <p:sp>
        <p:nvSpPr>
          <p:cNvPr id="13" name="value-accent-2">
            <a:extLst xmlns:a="http://schemas.openxmlformats.org/drawingml/2006/main">
              <a:ext uri="{FF2B5EF4-FFF2-40B4-BE49-F238E27FC236}">
                <a16:creationId xmlns:a16="http://schemas.microsoft.com/office/drawing/2014/main" id="{0450306E-BACD-43F6-9310-D7089813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alue-head-2">
            <a:extLst xmlns:a="http://schemas.openxmlformats.org/drawingml/2006/main">
              <a:ext uri="{FF2B5EF4-FFF2-40B4-BE49-F238E27FC236}">
                <a16:creationId xmlns:a16="http://schemas.microsoft.com/office/drawing/2014/main" id="{0FE29B8F-014A-4DC4-9CDD-02A64ECE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组织价值</a:t>
            </a:r>
          </a:p>
        </p:txBody>
      </p:sp>
      <p:sp>
        <p:nvSpPr>
          <p:cNvPr id="15" name="value-body-2">
            <a:extLst xmlns:a="http://schemas.openxmlformats.org/drawingml/2006/main">
              <a:ext uri="{FF2B5EF4-FFF2-40B4-BE49-F238E27FC236}">
                <a16:creationId xmlns:a16="http://schemas.microsoft.com/office/drawing/2014/main" id="{E4DC3847-03B9-4521-AF73-E24EC400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2305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文档知识资产化</a:t>
            </a:r>
          </a:p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评审有证据</a:t>
            </a:r>
          </a:p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多人协作不漂移</a:t>
            </a:r>
          </a:p>
        </p:txBody>
      </p:sp>
      <p:sp>
        <p:nvSpPr>
          <p:cNvPr id="16" name="value-explain-2">
            <a:extLst xmlns:a="http://schemas.openxmlformats.org/drawingml/2006/main">
              <a:ext uri="{FF2B5EF4-FFF2-40B4-BE49-F238E27FC236}">
                <a16:creationId xmlns:a16="http://schemas.microsoft.com/office/drawing/2014/main" id="{0722DB68-BAD6-4FA7-A630-91891B6C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把个人经验变成团队可审核的方法。</a:t>
            </a:r>
          </a:p>
        </p:txBody>
      </p:sp>
      <p:sp>
        <p:nvSpPr>
          <p:cNvPr id="17" name="value-accent-3">
            <a:extLst xmlns:a="http://schemas.openxmlformats.org/drawingml/2006/main">
              <a:ext uri="{FF2B5EF4-FFF2-40B4-BE49-F238E27FC236}">
                <a16:creationId xmlns:a16="http://schemas.microsoft.com/office/drawing/2014/main" id="{C7A0C465-00AC-4370-93FB-52525C42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716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alue-head-3">
            <a:extLst xmlns:a="http://schemas.openxmlformats.org/drawingml/2006/main">
              <a:ext uri="{FF2B5EF4-FFF2-40B4-BE49-F238E27FC236}">
                <a16:creationId xmlns:a16="http://schemas.microsoft.com/office/drawing/2014/main" id="{E3F32BC7-5523-4A55-B3ED-8184DDB7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097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战略价值</a:t>
            </a:r>
          </a:p>
        </p:txBody>
      </p:sp>
      <p:sp>
        <p:nvSpPr>
          <p:cNvPr id="19" name="value-body-3">
            <a:extLst xmlns:a="http://schemas.openxmlformats.org/drawingml/2006/main">
              <a:ext uri="{FF2B5EF4-FFF2-40B4-BE49-F238E27FC236}">
                <a16:creationId xmlns:a16="http://schemas.microsoft.com/office/drawing/2014/main" id="{6B11DC79-F2F4-4811-BC68-1DD52E44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2305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方案可带入内网</a:t>
            </a:r>
          </a:p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AI 可替换</a:t>
            </a:r>
          </a:p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支持跨版本能力图谱</a:t>
            </a:r>
          </a:p>
        </p:txBody>
      </p:sp>
      <p:sp>
        <p:nvSpPr>
          <p:cNvPr id="20" name="value-explain-3">
            <a:extLst xmlns:a="http://schemas.openxmlformats.org/drawingml/2006/main">
              <a:ext uri="{FF2B5EF4-FFF2-40B4-BE49-F238E27FC236}">
                <a16:creationId xmlns:a16="http://schemas.microsoft.com/office/drawing/2014/main" id="{6F40CF38-70CB-4C6C-914C-5A6D9B11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76750"/>
            <a:ext cx="230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让内网数据留在内网，方法与工具可迁移。</a:t>
            </a:r>
          </a:p>
        </p:txBody>
      </p:sp>
      <p:sp>
        <p:nvSpPr>
          <p:cNvPr id="21" name="value-conclusion">
            <a:extLst xmlns:a="http://schemas.openxmlformats.org/drawingml/2006/main">
              <a:ext uri="{FF2B5EF4-FFF2-40B4-BE49-F238E27FC236}">
                <a16:creationId xmlns:a16="http://schemas.microsoft.com/office/drawing/2014/main" id="{353594BD-B03F-4489-814D-D21D673A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104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22" name="value-conclusion-text">
            <a:extLst xmlns:a="http://schemas.openxmlformats.org/drawingml/2006/main">
              <a:ext uri="{FF2B5EF4-FFF2-40B4-BE49-F238E27FC236}">
                <a16:creationId xmlns:a16="http://schemas.microsoft.com/office/drawing/2014/main" id="{CC4FBD0C-B8C5-4F23-AE58-32B8B9EB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24525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最终资产不是一批 SQL，而是“产品事实—测试设计—执行证据”的机器可读映射。</a:t>
            </a:r>
          </a:p>
        </p:txBody>
      </p:sp>
    </p:spTree>
    <p:extLst>
      <p:ext uri="{BB962C8B-B14F-4D97-AF65-F5344CB8AC3E}">
        <p14:creationId xmlns:p14="http://schemas.microsoft.com/office/powerpoint/2010/main" val="16228737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14">
            <a:extLst xmlns:a="http://schemas.openxmlformats.org/drawingml/2006/main">
              <a:ext uri="{FF2B5EF4-FFF2-40B4-BE49-F238E27FC236}">
                <a16:creationId xmlns:a16="http://schemas.microsoft.com/office/drawing/2014/main" id="{CB71FD4B-CDFD-45C6-944E-1136DF28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13 · 现状边界与风险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2A39FFD3-B388-4246-B6DE-922C40CD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当前最需要管理的五类风险</a:t>
            </a:r>
          </a:p>
        </p:txBody>
      </p:sp>
      <p:sp>
        <p:nvSpPr>
          <p:cNvPr id="3" name="rule-48-138">
            <a:extLst xmlns:a="http://schemas.openxmlformats.org/drawingml/2006/main">
              <a:ext uri="{FF2B5EF4-FFF2-40B4-BE49-F238E27FC236}">
                <a16:creationId xmlns:a16="http://schemas.microsoft.com/office/drawing/2014/main" id="{8E7AD891-C812-4AA0-A5C7-FBE6532D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61B4936-5CAC-4A5C-88A4-6723294C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risk-tag-0-bg">
            <a:extLst xmlns:a="http://schemas.openxmlformats.org/drawingml/2006/main">
              <a:ext uri="{FF2B5EF4-FFF2-40B4-BE49-F238E27FC236}">
                <a16:creationId xmlns:a16="http://schemas.microsoft.com/office/drawing/2014/main" id="{A9B91F83-6B5F-4965-8260-96A5D0FA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isk-tag-0">
            <a:extLst xmlns:a="http://schemas.openxmlformats.org/drawingml/2006/main">
              <a:ext uri="{FF2B5EF4-FFF2-40B4-BE49-F238E27FC236}">
                <a16:creationId xmlns:a16="http://schemas.microsoft.com/office/drawing/2014/main" id="{AF75FF8D-564D-4C32-906C-B184D98B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结构风险</a:t>
            </a:r>
          </a:p>
        </p:txBody>
      </p:sp>
      <p:sp>
        <p:nvSpPr>
          <p:cNvPr id="7" name="risk-head-0">
            <a:extLst xmlns:a="http://schemas.openxmlformats.org/drawingml/2006/main">
              <a:ext uri="{FF2B5EF4-FFF2-40B4-BE49-F238E27FC236}">
                <a16:creationId xmlns:a16="http://schemas.microsoft.com/office/drawing/2014/main" id="{C8F3CE22-3EB2-4A21-BA6A-D520EB58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638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108 个原始 BNF</a:t>
            </a:r>
          </a:p>
        </p:txBody>
      </p:sp>
      <p:sp>
        <p:nvSpPr>
          <p:cNvPr id="8" name="risk-body-0">
            <a:extLst xmlns:a="http://schemas.openxmlformats.org/drawingml/2006/main">
              <a:ext uri="{FF2B5EF4-FFF2-40B4-BE49-F238E27FC236}">
                <a16:creationId xmlns:a16="http://schemas.microsoft.com/office/drawing/2014/main" id="{2E79D567-843D-40C7-9780-BE14C37F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573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尚未转换为完整槽位/AST；直接生成会产生伪 SQL。</a:t>
            </a:r>
          </a:p>
        </p:txBody>
      </p:sp>
      <p:sp>
        <p:nvSpPr>
          <p:cNvPr id="9" name="rule-58-242">
            <a:extLst xmlns:a="http://schemas.openxmlformats.org/drawingml/2006/main">
              <a:ext uri="{FF2B5EF4-FFF2-40B4-BE49-F238E27FC236}">
                <a16:creationId xmlns:a16="http://schemas.microsoft.com/office/drawing/2014/main" id="{49E545E5-CCD4-497D-8C22-C621ED9B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0" name="risk-tag-1-bg">
            <a:extLst xmlns:a="http://schemas.openxmlformats.org/drawingml/2006/main">
              <a:ext uri="{FF2B5EF4-FFF2-40B4-BE49-F238E27FC236}">
                <a16:creationId xmlns:a16="http://schemas.microsoft.com/office/drawing/2014/main" id="{551BD6A8-3C00-416D-AA2F-6930F5F1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isk-tag-1">
            <a:extLst xmlns:a="http://schemas.openxmlformats.org/drawingml/2006/main">
              <a:ext uri="{FF2B5EF4-FFF2-40B4-BE49-F238E27FC236}">
                <a16:creationId xmlns:a16="http://schemas.microsoft.com/office/drawing/2014/main" id="{E379DE86-DDE1-45F4-9A39-3F267596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质量风险</a:t>
            </a:r>
          </a:p>
        </p:txBody>
      </p:sp>
      <p:sp>
        <p:nvSpPr>
          <p:cNvPr id="12" name="risk-head-1">
            <a:extLst xmlns:a="http://schemas.openxmlformats.org/drawingml/2006/main">
              <a:ext uri="{FF2B5EF4-FFF2-40B4-BE49-F238E27FC236}">
                <a16:creationId xmlns:a16="http://schemas.microsoft.com/office/drawing/2014/main" id="{0415B806-109A-49F2-8935-323FCB6E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14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1205 个低置信产物</a:t>
            </a:r>
          </a:p>
        </p:txBody>
      </p:sp>
      <p:sp>
        <p:nvSpPr>
          <p:cNvPr id="13" name="risk-body-1">
            <a:extLst xmlns:a="http://schemas.openxmlformats.org/drawingml/2006/main">
              <a:ext uri="{FF2B5EF4-FFF2-40B4-BE49-F238E27FC236}">
                <a16:creationId xmlns:a16="http://schemas.microsoft.com/office/drawing/2014/main" id="{62BCD7C5-19D4-488C-BBBE-F879D39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自动对齐只完成“有文件”，仍需要人审或运行证据。</a:t>
            </a:r>
          </a:p>
        </p:txBody>
      </p:sp>
      <p:sp>
        <p:nvSpPr>
          <p:cNvPr id="14" name="rule-58-334">
            <a:extLst xmlns:a="http://schemas.openxmlformats.org/drawingml/2006/main">
              <a:ext uri="{FF2B5EF4-FFF2-40B4-BE49-F238E27FC236}">
                <a16:creationId xmlns:a16="http://schemas.microsoft.com/office/drawing/2014/main" id="{0B645C23-5BA4-4FD0-8086-06EDB3F3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5" name="risk-tag-2-bg">
            <a:extLst xmlns:a="http://schemas.openxmlformats.org/drawingml/2006/main">
              <a:ext uri="{FF2B5EF4-FFF2-40B4-BE49-F238E27FC236}">
                <a16:creationId xmlns:a16="http://schemas.microsoft.com/office/drawing/2014/main" id="{74818A86-4917-4B3E-95E8-A853F7CA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isk-tag-2">
            <a:extLst xmlns:a="http://schemas.openxmlformats.org/drawingml/2006/main">
              <a:ext uri="{FF2B5EF4-FFF2-40B4-BE49-F238E27FC236}">
                <a16:creationId xmlns:a16="http://schemas.microsoft.com/office/drawing/2014/main" id="{5EA9FF16-0E12-4DB1-992B-6B73BCF2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环境风险</a:t>
            </a:r>
          </a:p>
        </p:txBody>
      </p:sp>
      <p:sp>
        <p:nvSpPr>
          <p:cNvPr id="17" name="risk-head-2">
            <a:extLst xmlns:a="http://schemas.openxmlformats.org/drawingml/2006/main">
              <a:ext uri="{FF2B5EF4-FFF2-40B4-BE49-F238E27FC236}">
                <a16:creationId xmlns:a16="http://schemas.microsoft.com/office/drawing/2014/main" id="{E07EF59F-4F3E-4D32-8326-433979FC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环境能力差异</a:t>
            </a:r>
          </a:p>
        </p:txBody>
      </p:sp>
      <p:sp>
        <p:nvSpPr>
          <p:cNvPr id="18" name="risk-body-2">
            <a:extLst xmlns:a="http://schemas.openxmlformats.org/drawingml/2006/main">
              <a:ext uri="{FF2B5EF4-FFF2-40B4-BE49-F238E27FC236}">
                <a16:creationId xmlns:a16="http://schemas.microsoft.com/office/drawing/2014/main" id="{CBE4129C-CFDF-482D-9919-2C3D4F04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版本、兼容模式、表类型、事务与权限必须用 gate/matrix 表达。</a:t>
            </a:r>
          </a:p>
        </p:txBody>
      </p:sp>
      <p:sp>
        <p:nvSpPr>
          <p:cNvPr id="19" name="rule-58-426">
            <a:extLst xmlns:a="http://schemas.openxmlformats.org/drawingml/2006/main">
              <a:ext uri="{FF2B5EF4-FFF2-40B4-BE49-F238E27FC236}">
                <a16:creationId xmlns:a16="http://schemas.microsoft.com/office/drawing/2014/main" id="{C5857A7A-DF51-4BA9-8736-45720609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20" name="risk-tag-3-bg">
            <a:extLst xmlns:a="http://schemas.openxmlformats.org/drawingml/2006/main">
              <a:ext uri="{FF2B5EF4-FFF2-40B4-BE49-F238E27FC236}">
                <a16:creationId xmlns:a16="http://schemas.microsoft.com/office/drawing/2014/main" id="{374BB678-7E37-4C01-9492-8C6D360D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isk-tag-3">
            <a:extLst xmlns:a="http://schemas.openxmlformats.org/drawingml/2006/main">
              <a:ext uri="{FF2B5EF4-FFF2-40B4-BE49-F238E27FC236}">
                <a16:creationId xmlns:a16="http://schemas.microsoft.com/office/drawing/2014/main" id="{5A79F133-0C48-48FC-9C49-851EC6B1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529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体验风险</a:t>
            </a:r>
          </a:p>
        </p:txBody>
      </p:sp>
      <p:sp>
        <p:nvSpPr>
          <p:cNvPr id="22" name="risk-head-3">
            <a:extLst xmlns:a="http://schemas.openxmlformats.org/drawingml/2006/main">
              <a:ext uri="{FF2B5EF4-FFF2-40B4-BE49-F238E27FC236}">
                <a16:creationId xmlns:a16="http://schemas.microsoft.com/office/drawing/2014/main" id="{97984C42-9F5D-42D6-BCAB-F20C9F1B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67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前端规模性能</a:t>
            </a:r>
          </a:p>
        </p:txBody>
      </p:sp>
      <p:sp>
        <p:nvSpPr>
          <p:cNvPr id="23" name="risk-body-3">
            <a:extLst xmlns:a="http://schemas.openxmlformats.org/drawingml/2006/main">
              <a:ext uri="{FF2B5EF4-FFF2-40B4-BE49-F238E27FC236}">
                <a16:creationId xmlns:a16="http://schemas.microsoft.com/office/drawing/2014/main" id="{B532146B-B2FD-4584-84FE-595B05FF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862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226 因子下全量 YAML 重载、实时审计和大 DOM 会卡顿。</a:t>
            </a:r>
          </a:p>
        </p:txBody>
      </p:sp>
      <p:sp>
        <p:nvSpPr>
          <p:cNvPr id="24" name="rule-58-518">
            <a:extLst xmlns:a="http://schemas.openxmlformats.org/drawingml/2006/main">
              <a:ext uri="{FF2B5EF4-FFF2-40B4-BE49-F238E27FC236}">
                <a16:creationId xmlns:a16="http://schemas.microsoft.com/office/drawing/2014/main" id="{C9A4308E-7237-4189-9CA4-6D66E662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25" name="risk-tag-4-bg">
            <a:extLst xmlns:a="http://schemas.openxmlformats.org/drawingml/2006/main">
              <a:ext uri="{FF2B5EF4-FFF2-40B4-BE49-F238E27FC236}">
                <a16:creationId xmlns:a16="http://schemas.microsoft.com/office/drawing/2014/main" id="{F7EFD863-A678-47AD-97A0-D1403EFE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isk-tag-4">
            <a:extLst xmlns:a="http://schemas.openxmlformats.org/drawingml/2006/main">
              <a:ext uri="{FF2B5EF4-FFF2-40B4-BE49-F238E27FC236}">
                <a16:creationId xmlns:a16="http://schemas.microsoft.com/office/drawing/2014/main" id="{768BBFA6-0A0E-49DB-9FC9-21453D1D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292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运维风险</a:t>
            </a:r>
          </a:p>
        </p:txBody>
      </p:sp>
      <p:sp>
        <p:nvSpPr>
          <p:cNvPr id="27" name="risk-head-4">
            <a:extLst xmlns:a="http://schemas.openxmlformats.org/drawingml/2006/main">
              <a:ext uri="{FF2B5EF4-FFF2-40B4-BE49-F238E27FC236}">
                <a16:creationId xmlns:a16="http://schemas.microsoft.com/office/drawing/2014/main" id="{5323B488-DFE6-46DF-A7A2-383C7B53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43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清理与隔离</a:t>
            </a:r>
          </a:p>
        </p:txBody>
      </p:sp>
      <p:sp>
        <p:nvSpPr>
          <p:cNvPr id="28" name="risk-body-4">
            <a:extLst xmlns:a="http://schemas.openxmlformats.org/drawingml/2006/main">
              <a:ext uri="{FF2B5EF4-FFF2-40B4-BE49-F238E27FC236}">
                <a16:creationId xmlns:a16="http://schemas.microsoft.com/office/drawing/2014/main" id="{F779816C-4DEE-45D5-95B1-57F9D614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625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固定名称、无 DROP 对象、106 个冗余产物需要有计划治理。</a:t>
            </a:r>
          </a:p>
        </p:txBody>
      </p:sp>
      <p:sp>
        <p:nvSpPr>
          <p:cNvPr id="29" name="risk-rule">
            <a:extLst xmlns:a="http://schemas.openxmlformats.org/drawingml/2006/main">
              <a:ext uri="{FF2B5EF4-FFF2-40B4-BE49-F238E27FC236}">
                <a16:creationId xmlns:a16="http://schemas.microsoft.com/office/drawing/2014/main" id="{3AB9E736-B9AF-4185-A003-CAE00BC7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D4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30" name="risk-rule-text">
            <a:extLst xmlns:a="http://schemas.openxmlformats.org/drawingml/2006/main">
              <a:ext uri="{FF2B5EF4-FFF2-40B4-BE49-F238E27FC236}">
                <a16:creationId xmlns:a16="http://schemas.microsoft.com/office/drawing/2014/main" id="{53617E06-1D56-4667-B706-DB239F58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治理原则：不通过删失败用例提升通过率；不把能力限制、Fixture 缺失和语法错误混为一类。</a:t>
            </a:r>
          </a:p>
        </p:txBody>
      </p:sp>
    </p:spTree>
    <p:extLst>
      <p:ext uri="{BB962C8B-B14F-4D97-AF65-F5344CB8AC3E}">
        <p14:creationId xmlns:p14="http://schemas.microsoft.com/office/powerpoint/2010/main" val="8374176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eyebrow-15">
            <a:extLst xmlns:a="http://schemas.openxmlformats.org/drawingml/2006/main">
              <a:ext uri="{FF2B5EF4-FFF2-40B4-BE49-F238E27FC236}">
                <a16:creationId xmlns:a16="http://schemas.microsoft.com/office/drawing/2014/main" id="{2065589F-4F9A-4B00-B4F9-9BD3661F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14 · 路线图与结论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41B01D85-F78E-439E-AAF3-B6FA98D3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下一阶段：把“可信核心”从 7 个扩展到 113 个</a:t>
            </a:r>
          </a:p>
        </p:txBody>
      </p:sp>
      <p:sp>
        <p:nvSpPr>
          <p:cNvPr id="3" name="rule-48-138">
            <a:extLst xmlns:a="http://schemas.openxmlformats.org/drawingml/2006/main">
              <a:ext uri="{FF2B5EF4-FFF2-40B4-BE49-F238E27FC236}">
                <a16:creationId xmlns:a16="http://schemas.microsoft.com/office/drawing/2014/main" id="{388B6AC2-8D78-4B7B-B7FD-4E1E888D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F7A1E90E-601C-49AE-B403-90B696FD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" name="arrow-224-286">
            <a:extLst xmlns:a="http://schemas.openxmlformats.org/drawingml/2006/main">
              <a:ext uri="{FF2B5EF4-FFF2-40B4-BE49-F238E27FC236}">
                <a16:creationId xmlns:a16="http://schemas.microsoft.com/office/drawing/2014/main" id="{DCE82AF8-66FF-4351-BED5-1775FE06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2415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446-286">
            <a:extLst xmlns:a="http://schemas.openxmlformats.org/drawingml/2006/main">
              <a:ext uri="{FF2B5EF4-FFF2-40B4-BE49-F238E27FC236}">
                <a16:creationId xmlns:a16="http://schemas.microsoft.com/office/drawing/2014/main" id="{7E079B3E-DE90-4811-8783-DE89E4D7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2415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668-286">
            <a:extLst xmlns:a="http://schemas.openxmlformats.org/drawingml/2006/main">
              <a:ext uri="{FF2B5EF4-FFF2-40B4-BE49-F238E27FC236}">
                <a16:creationId xmlns:a16="http://schemas.microsoft.com/office/drawing/2014/main" id="{79D9E0B7-7827-44D6-83E5-9D6E6ADC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890-286">
            <a:extLst xmlns:a="http://schemas.openxmlformats.org/drawingml/2006/main">
              <a:ext uri="{FF2B5EF4-FFF2-40B4-BE49-F238E27FC236}">
                <a16:creationId xmlns:a16="http://schemas.microsoft.com/office/drawing/2014/main" id="{CFFB7376-0FE2-4AD1-86B4-FD532838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ad-0">
            <a:extLst xmlns:a="http://schemas.openxmlformats.org/drawingml/2006/main">
              <a:ext uri="{FF2B5EF4-FFF2-40B4-BE49-F238E27FC236}">
                <a16:creationId xmlns:a16="http://schemas.microsoft.com/office/drawing/2014/main" id="{113CC726-5544-4811-95F3-64756016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581150" cy="20002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0" name="road-num-0">
            <a:extLst xmlns:a="http://schemas.openxmlformats.org/drawingml/2006/main">
              <a:ext uri="{FF2B5EF4-FFF2-40B4-BE49-F238E27FC236}">
                <a16:creationId xmlns:a16="http://schemas.microsoft.com/office/drawing/2014/main" id="{C18CB080-2B2D-46A1-831F-6FB51652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11" name="road-head-0">
            <a:extLst xmlns:a="http://schemas.openxmlformats.org/drawingml/2006/main">
              <a:ext uri="{FF2B5EF4-FFF2-40B4-BE49-F238E27FC236}">
                <a16:creationId xmlns:a16="http://schemas.microsoft.com/office/drawing/2014/main" id="{6CABA8CA-E8CC-403C-A370-8F97D718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Slot 因子</a:t>
            </a:r>
          </a:p>
        </p:txBody>
      </p:sp>
      <p:sp>
        <p:nvSpPr>
          <p:cNvPr id="12" name="road-body-0">
            <a:extLst xmlns:a="http://schemas.openxmlformats.org/drawingml/2006/main">
              <a:ext uri="{FF2B5EF4-FFF2-40B4-BE49-F238E27FC236}">
                <a16:creationId xmlns:a16="http://schemas.microsoft.com/office/drawing/2014/main" id="{F6399713-254C-40D5-9049-D221510A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扩展 Smoke</a:t>
            </a:r>
          </a:p>
          <a:p xmlns:a="http://schemas.openxmlformats.org/drawingml/2006/main">
            <a:pPr algn="ctr">
              <a:def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沉淀根因簇</a:t>
            </a:r>
          </a:p>
        </p:txBody>
      </p:sp>
      <p:sp>
        <p:nvSpPr>
          <p:cNvPr id="13" name="road-1">
            <a:extLst xmlns:a="http://schemas.openxmlformats.org/drawingml/2006/main">
              <a:ext uri="{FF2B5EF4-FFF2-40B4-BE49-F238E27FC236}">
                <a16:creationId xmlns:a16="http://schemas.microsoft.com/office/drawing/2014/main" id="{C1B8970E-6FD3-4216-8B29-80D33B3B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0"/>
            <a:ext cx="1581150" cy="20002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4" name="road-num-1">
            <a:extLst xmlns:a="http://schemas.openxmlformats.org/drawingml/2006/main">
              <a:ext uri="{FF2B5EF4-FFF2-40B4-BE49-F238E27FC236}">
                <a16:creationId xmlns:a16="http://schemas.microsoft.com/office/drawing/2014/main" id="{7FCD285F-4AD7-4400-AE97-ABC8422E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241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50</a:t>
            </a:r>
          </a:p>
        </p:txBody>
      </p:sp>
      <p:sp>
        <p:nvSpPr>
          <p:cNvPr id="15" name="road-head-1">
            <a:extLst xmlns:a="http://schemas.openxmlformats.org/drawingml/2006/main">
              <a:ext uri="{FF2B5EF4-FFF2-40B4-BE49-F238E27FC236}">
                <a16:creationId xmlns:a16="http://schemas.microsoft.com/office/drawing/2014/main" id="{B2301485-B65A-4CBB-992C-9F1CEE38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146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Slot 因子</a:t>
            </a:r>
          </a:p>
        </p:txBody>
      </p:sp>
      <p:sp>
        <p:nvSpPr>
          <p:cNvPr id="16" name="road-body-1">
            <a:extLst xmlns:a="http://schemas.openxmlformats.org/drawingml/2006/main">
              <a:ext uri="{FF2B5EF4-FFF2-40B4-BE49-F238E27FC236}">
                <a16:creationId xmlns:a16="http://schemas.microsoft.com/office/drawing/2014/main" id="{9A0EAA1D-0D8F-43DF-BB83-D94FD72B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718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Fixture / Oracle</a:t>
            </a:r>
          </a:p>
          <a:p xmlns:a="http://schemas.openxmlformats.org/drawingml/2006/main">
            <a:pPr algn="ctr">
              <a:def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模板复用</a:t>
            </a:r>
          </a:p>
        </p:txBody>
      </p:sp>
      <p:sp>
        <p:nvSpPr>
          <p:cNvPr id="17" name="road-2">
            <a:extLst xmlns:a="http://schemas.openxmlformats.org/drawingml/2006/main">
              <a:ext uri="{FF2B5EF4-FFF2-40B4-BE49-F238E27FC236}">
                <a16:creationId xmlns:a16="http://schemas.microsoft.com/office/drawing/2014/main" id="{62AAF04C-60B0-4771-8EDF-3B45E46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95500"/>
            <a:ext cx="1581150" cy="20002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5C9D1"/>
            </a:solidFill>
            <a:prstDash val="solid"/>
          </a:ln>
        </p:spPr>
      </p:sp>
      <p:sp>
        <p:nvSpPr>
          <p:cNvPr id="18" name="road-num-2">
            <a:extLst xmlns:a="http://schemas.openxmlformats.org/drawingml/2006/main">
              <a:ext uri="{FF2B5EF4-FFF2-40B4-BE49-F238E27FC236}">
                <a16:creationId xmlns:a16="http://schemas.microsoft.com/office/drawing/2014/main" id="{FE3C4A0B-CDB7-4632-A22C-2220E639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241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80</a:t>
            </a:r>
          </a:p>
        </p:txBody>
      </p:sp>
      <p:sp>
        <p:nvSpPr>
          <p:cNvPr id="19" name="road-head-2">
            <a:extLst xmlns:a="http://schemas.openxmlformats.org/drawingml/2006/main">
              <a:ext uri="{FF2B5EF4-FFF2-40B4-BE49-F238E27FC236}">
                <a16:creationId xmlns:a16="http://schemas.microsoft.com/office/drawing/2014/main" id="{49D43DBD-5A9E-488E-AE4B-BDC0B98C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Slot 因子</a:t>
            </a:r>
          </a:p>
        </p:txBody>
      </p:sp>
      <p:sp>
        <p:nvSpPr>
          <p:cNvPr id="20" name="road-body-2">
            <a:extLst xmlns:a="http://schemas.openxmlformats.org/drawingml/2006/main">
              <a:ext uri="{FF2B5EF4-FFF2-40B4-BE49-F238E27FC236}">
                <a16:creationId xmlns:a16="http://schemas.microsoft.com/office/drawing/2014/main" id="{35BC3D78-B2F0-45B2-9F47-383DA0A8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并行执行</a:t>
            </a:r>
          </a:p>
          <a:p xmlns:a="http://schemas.openxmlformats.org/drawingml/2006/main">
            <a:pPr algn="ctr">
              <a:def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稳定质量门</a:t>
            </a:r>
          </a:p>
        </p:txBody>
      </p:sp>
      <p:sp>
        <p:nvSpPr>
          <p:cNvPr id="21" name="road-3">
            <a:extLst xmlns:a="http://schemas.openxmlformats.org/drawingml/2006/main">
              <a:ext uri="{FF2B5EF4-FFF2-40B4-BE49-F238E27FC236}">
                <a16:creationId xmlns:a16="http://schemas.microsoft.com/office/drawing/2014/main" id="{98D5C125-9F22-4E36-9EDA-0CBEEC6D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95500"/>
            <a:ext cx="1581150" cy="20002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9525">
            <a:solidFill>
              <a:srgbClr val="14804A"/>
            </a:solidFill>
            <a:prstDash val="solid"/>
          </a:ln>
        </p:spPr>
      </p:sp>
      <p:sp>
        <p:nvSpPr>
          <p:cNvPr id="22" name="road-num-3">
            <a:extLst xmlns:a="http://schemas.openxmlformats.org/drawingml/2006/main">
              <a:ext uri="{FF2B5EF4-FFF2-40B4-BE49-F238E27FC236}">
                <a16:creationId xmlns:a16="http://schemas.microsoft.com/office/drawing/2014/main" id="{4B3598B1-0FA3-461E-8CCE-FB8E79E0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4804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804A"/>
                </a:solidFill>
                <a:latin typeface="PingFang SC"/>
                <a:ea typeface="PingFang SC"/>
                <a:cs typeface="PingFang SC"/>
              </a:rPr>
              <a:t>113</a:t>
            </a:r>
          </a:p>
        </p:txBody>
      </p:sp>
      <p:sp>
        <p:nvSpPr>
          <p:cNvPr id="23" name="road-head-3">
            <a:extLst xmlns:a="http://schemas.openxmlformats.org/drawingml/2006/main">
              <a:ext uri="{FF2B5EF4-FFF2-40B4-BE49-F238E27FC236}">
                <a16:creationId xmlns:a16="http://schemas.microsoft.com/office/drawing/2014/main" id="{35970B88-8B80-450C-A661-776D7558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146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Slot 因子</a:t>
            </a:r>
          </a:p>
        </p:txBody>
      </p:sp>
      <p:sp>
        <p:nvSpPr>
          <p:cNvPr id="24" name="road-body-3">
            <a:extLst xmlns:a="http://schemas.openxmlformats.org/drawingml/2006/main">
              <a:ext uri="{FF2B5EF4-FFF2-40B4-BE49-F238E27FC236}">
                <a16:creationId xmlns:a16="http://schemas.microsoft.com/office/drawing/2014/main" id="{175FA421-7D68-4766-972B-07950B9E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718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全量批次</a:t>
            </a:r>
          </a:p>
          <a:p xmlns:a="http://schemas.openxmlformats.org/drawingml/2006/main">
            <a:pPr algn="ctr">
              <a:def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保持黄金回归</a:t>
            </a:r>
          </a:p>
        </p:txBody>
      </p:sp>
      <p:sp>
        <p:nvSpPr>
          <p:cNvPr id="25" name="road-4">
            <a:extLst xmlns:a="http://schemas.openxmlformats.org/drawingml/2006/main">
              <a:ext uri="{FF2B5EF4-FFF2-40B4-BE49-F238E27FC236}">
                <a16:creationId xmlns:a16="http://schemas.microsoft.com/office/drawing/2014/main" id="{58B38A46-F5A4-40DE-BA3F-ADD98F82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1581150" cy="20002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0D4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6" name="road-num-4">
            <a:extLst xmlns:a="http://schemas.openxmlformats.org/drawingml/2006/main">
              <a:ext uri="{FF2B5EF4-FFF2-40B4-BE49-F238E27FC236}">
                <a16:creationId xmlns:a16="http://schemas.microsoft.com/office/drawing/2014/main" id="{3B325524-56BB-418C-ABD8-632249AD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241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61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BNF → AST</a:t>
            </a:r>
          </a:p>
        </p:txBody>
      </p:sp>
      <p:sp>
        <p:nvSpPr>
          <p:cNvPr id="27" name="road-head-4">
            <a:extLst xmlns:a="http://schemas.openxmlformats.org/drawingml/2006/main">
              <a:ext uri="{FF2B5EF4-FFF2-40B4-BE49-F238E27FC236}">
                <a16:creationId xmlns:a16="http://schemas.microsoft.com/office/drawing/2014/main" id="{2CCF9C06-5836-4C78-8140-9D4BF6B0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146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解析器主线</a:t>
            </a:r>
          </a:p>
        </p:txBody>
      </p:sp>
      <p:sp>
        <p:nvSpPr>
          <p:cNvPr id="28" name="road-body-4">
            <a:extLst xmlns:a="http://schemas.openxmlformats.org/drawingml/2006/main">
              <a:ext uri="{FF2B5EF4-FFF2-40B4-BE49-F238E27FC236}">
                <a16:creationId xmlns:a16="http://schemas.microsoft.com/office/drawing/2014/main" id="{F03A7BBD-1AE7-4C5A-BE9E-E7DF43DF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718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试点 10 个</a:t>
            </a:r>
          </a:p>
          <a:p xmlns:a="http://schemas.openxmlformats.org/drawingml/2006/main">
            <a:pPr algn="ctr">
              <a:def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避免 430h 手工</a:t>
            </a:r>
          </a:p>
        </p:txBody>
      </p:sp>
      <p:sp>
        <p:nvSpPr>
          <p:cNvPr id="29" name="enable-h-0">
            <a:extLst xmlns:a="http://schemas.openxmlformats.org/drawingml/2006/main">
              <a:ext uri="{FF2B5EF4-FFF2-40B4-BE49-F238E27FC236}">
                <a16:creationId xmlns:a16="http://schemas.microsoft.com/office/drawing/2014/main" id="{8E90B91F-1AF0-425F-85B9-80039448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前端</a:t>
            </a:r>
          </a:p>
        </p:txBody>
      </p:sp>
      <p:sp>
        <p:nvSpPr>
          <p:cNvPr id="30" name="enable-b-0">
            <a:extLst xmlns:a="http://schemas.openxmlformats.org/drawingml/2006/main">
              <a:ext uri="{FF2B5EF4-FFF2-40B4-BE49-F238E27FC236}">
                <a16:creationId xmlns:a16="http://schemas.microsoft.com/office/drawing/2014/main" id="{98BFC16A-9935-4150-BE3C-A9461A5C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053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1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缓存 Registry、预计算审计、分页与懒加载</a:t>
            </a:r>
          </a:p>
        </p:txBody>
      </p:sp>
      <p:sp>
        <p:nvSpPr>
          <p:cNvPr id="31" name="enable-h-1">
            <a:extLst xmlns:a="http://schemas.openxmlformats.org/drawingml/2006/main">
              <a:ext uri="{FF2B5EF4-FFF2-40B4-BE49-F238E27FC236}">
                <a16:creationId xmlns:a16="http://schemas.microsoft.com/office/drawing/2014/main" id="{F268ABD6-C345-42A1-895A-645968FE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863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平台</a:t>
            </a:r>
          </a:p>
        </p:txBody>
      </p:sp>
      <p:sp>
        <p:nvSpPr>
          <p:cNvPr id="32" name="enable-b-1">
            <a:extLst xmlns:a="http://schemas.openxmlformats.org/drawingml/2006/main">
              <a:ext uri="{FF2B5EF4-FFF2-40B4-BE49-F238E27FC236}">
                <a16:creationId xmlns:a16="http://schemas.microsoft.com/office/drawing/2014/main" id="{C6201827-54E5-4FB6-8DF9-8C395450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053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版本 / compat / 存储 / 权限能力矩阵</a:t>
            </a:r>
          </a:p>
        </p:txBody>
      </p:sp>
      <p:sp>
        <p:nvSpPr>
          <p:cNvPr id="33" name="enable-h-2">
            <a:extLst xmlns:a="http://schemas.openxmlformats.org/drawingml/2006/main">
              <a:ext uri="{FF2B5EF4-FFF2-40B4-BE49-F238E27FC236}">
                <a16:creationId xmlns:a16="http://schemas.microsoft.com/office/drawing/2014/main" id="{BFCD728B-8D6A-41FA-BAB2-E5F23C46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863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治理</a:t>
            </a:r>
          </a:p>
        </p:txBody>
      </p:sp>
      <p:sp>
        <p:nvSpPr>
          <p:cNvPr id="34" name="enable-b-2">
            <a:extLst xmlns:a="http://schemas.openxmlformats.org/drawingml/2006/main">
              <a:ext uri="{FF2B5EF4-FFF2-40B4-BE49-F238E27FC236}">
                <a16:creationId xmlns:a16="http://schemas.microsoft.com/office/drawing/2014/main" id="{1F0087F2-CCC7-49C2-8BB2-CE71D736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053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低置信评审、冗余清理、失败 dossier</a:t>
            </a:r>
          </a:p>
        </p:txBody>
      </p:sp>
      <p:sp>
        <p:nvSpPr>
          <p:cNvPr id="35" name="closing">
            <a:extLst xmlns:a="http://schemas.openxmlformats.org/drawingml/2006/main">
              <a:ext uri="{FF2B5EF4-FFF2-40B4-BE49-F238E27FC236}">
                <a16:creationId xmlns:a16="http://schemas.microsoft.com/office/drawing/2014/main" id="{75689F7D-F94F-412D-B22F-4FBE2174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87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36" name="closing-text">
            <a:extLst xmlns:a="http://schemas.openxmlformats.org/drawingml/2006/main">
              <a:ext uri="{FF2B5EF4-FFF2-40B4-BE49-F238E27FC236}">
                <a16:creationId xmlns:a16="http://schemas.microsoft.com/office/drawing/2014/main" id="{A06AE8A0-4DB2-420F-91BE-07A60355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规模不是终点：真正的交付，是每个测试结论都有原文、规格、运行和 Oracle 四类证据。</a:t>
            </a:r>
          </a:p>
        </p:txBody>
      </p:sp>
    </p:spTree>
    <p:extLst>
      <p:ext uri="{BB962C8B-B14F-4D97-AF65-F5344CB8AC3E}">
        <p14:creationId xmlns:p14="http://schemas.microsoft.com/office/powerpoint/2010/main" val="1576591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2026-09-02T07:34:19.4410000Z</dcterms:created>
  <dcterms:modified xsi:type="dcterms:W3CDTF">2026-09-02T07:34:19.4410000Z</dcterms:modified>
</coreProperties>
</file>